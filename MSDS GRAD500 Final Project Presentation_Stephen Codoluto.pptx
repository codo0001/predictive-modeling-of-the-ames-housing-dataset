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7" r:id="rId4"/>
    <p:sldId id="264" r:id="rId5"/>
    <p:sldId id="260" r:id="rId6"/>
    <p:sldId id="262" r:id="rId7"/>
    <p:sldId id="263" r:id="rId8"/>
    <p:sldId id="265" r:id="rId9"/>
    <p:sldId id="266" r:id="rId10"/>
    <p:sldId id="270" r:id="rId11"/>
    <p:sldId id="269" r:id="rId12"/>
    <p:sldId id="275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9" autoAdjust="0"/>
    <p:restoredTop sz="86337" autoAdjust="0"/>
  </p:normalViewPr>
  <p:slideViewPr>
    <p:cSldViewPr snapToGrid="0">
      <p:cViewPr varScale="1">
        <p:scale>
          <a:sx n="107" d="100"/>
          <a:sy n="107" d="100"/>
        </p:scale>
        <p:origin x="1409" y="2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7E628E-8337-4C9F-B89B-8D000D7C0DB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0E556F-42AC-4AC7-85F9-2F0966730E3A}">
      <dgm:prSet phldrT="[Text]" custT="1"/>
      <dgm:spPr/>
      <dgm:t>
        <a:bodyPr/>
        <a:lstStyle/>
        <a:p>
          <a:pPr>
            <a:buNone/>
          </a:pPr>
          <a:r>
            <a:rPr lang="en-US" sz="1400" b="1" dirty="0"/>
            <a:t>What physical attributes of a home most strongly predict its sale price?</a:t>
          </a:r>
          <a:endParaRPr lang="en-US" sz="1400" dirty="0"/>
        </a:p>
      </dgm:t>
    </dgm:pt>
    <dgm:pt modelId="{1A0D4245-2844-4A8B-AE9F-E8033865A985}" type="parTrans" cxnId="{C4247D67-BFC8-4EC9-BBB4-D7209208A7BE}">
      <dgm:prSet/>
      <dgm:spPr/>
      <dgm:t>
        <a:bodyPr/>
        <a:lstStyle/>
        <a:p>
          <a:endParaRPr lang="en-US"/>
        </a:p>
      </dgm:t>
    </dgm:pt>
    <dgm:pt modelId="{37A3F530-3768-48C8-8240-1FEF5DBB1E91}" type="sibTrans" cxnId="{C4247D67-BFC8-4EC9-BBB4-D7209208A7BE}">
      <dgm:prSet/>
      <dgm:spPr/>
      <dgm:t>
        <a:bodyPr/>
        <a:lstStyle/>
        <a:p>
          <a:endParaRPr lang="en-US"/>
        </a:p>
      </dgm:t>
    </dgm:pt>
    <dgm:pt modelId="{000F0723-1053-47E4-9D88-C7E91D7178A5}">
      <dgm:prSet phldrT="[Text]" custT="1"/>
      <dgm:spPr/>
      <dgm:t>
        <a:bodyPr anchor="t"/>
        <a:lstStyle/>
        <a:p>
          <a:r>
            <a:rPr lang="en-US" sz="2400" dirty="0"/>
            <a:t>Research Question 2</a:t>
          </a:r>
        </a:p>
      </dgm:t>
    </dgm:pt>
    <dgm:pt modelId="{44F8C02A-6EF7-44EF-A4F6-0E65ECF5E2C2}" type="parTrans" cxnId="{89CEF117-08D2-4D0A-B30F-0B605DECE5DF}">
      <dgm:prSet/>
      <dgm:spPr/>
      <dgm:t>
        <a:bodyPr/>
        <a:lstStyle/>
        <a:p>
          <a:endParaRPr lang="en-US"/>
        </a:p>
      </dgm:t>
    </dgm:pt>
    <dgm:pt modelId="{5CED87D0-E6CB-4393-87FA-9E9F97FA77C4}" type="sibTrans" cxnId="{89CEF117-08D2-4D0A-B30F-0B605DECE5DF}">
      <dgm:prSet/>
      <dgm:spPr/>
      <dgm:t>
        <a:bodyPr/>
        <a:lstStyle/>
        <a:p>
          <a:endParaRPr lang="en-US"/>
        </a:p>
      </dgm:t>
    </dgm:pt>
    <dgm:pt modelId="{E592E30F-70AC-43A2-AC95-7B119F0A0CA0}">
      <dgm:prSet phldrT="[Text]" custT="1"/>
      <dgm:spPr/>
      <dgm:t>
        <a:bodyPr/>
        <a:lstStyle/>
        <a:p>
          <a:pPr>
            <a:buNone/>
          </a:pPr>
          <a:r>
            <a:rPr lang="en-US" sz="1400" b="1" dirty="0"/>
            <a:t>Does neighborhood significantly affect home sale prices with house size, quality, and other impactful variables controlled?</a:t>
          </a:r>
          <a:endParaRPr lang="en-US" sz="1400" dirty="0"/>
        </a:p>
      </dgm:t>
    </dgm:pt>
    <dgm:pt modelId="{415B5129-5368-4FCF-ADA2-F2DEC41ECF47}" type="parTrans" cxnId="{8BA211AA-A125-45F2-8E06-FA8E8C7ED9D6}">
      <dgm:prSet/>
      <dgm:spPr/>
      <dgm:t>
        <a:bodyPr/>
        <a:lstStyle/>
        <a:p>
          <a:endParaRPr lang="en-US"/>
        </a:p>
      </dgm:t>
    </dgm:pt>
    <dgm:pt modelId="{40E0A695-1259-4E70-8B85-1F8C02688004}" type="sibTrans" cxnId="{8BA211AA-A125-45F2-8E06-FA8E8C7ED9D6}">
      <dgm:prSet/>
      <dgm:spPr/>
      <dgm:t>
        <a:bodyPr/>
        <a:lstStyle/>
        <a:p>
          <a:endParaRPr lang="en-US"/>
        </a:p>
      </dgm:t>
    </dgm:pt>
    <dgm:pt modelId="{19E6BCF4-24AF-4AC2-ADB9-1DEB4FE880E3}">
      <dgm:prSet phldrT="[Text]" custT="1"/>
      <dgm:spPr/>
      <dgm:t>
        <a:bodyPr/>
        <a:lstStyle/>
        <a:p>
          <a:pPr>
            <a:buNone/>
          </a:pPr>
          <a:r>
            <a:rPr lang="en-US" sz="1400" b="1" dirty="0"/>
            <a:t>Can it be predicted whether a house will sell above the median price based on its features?</a:t>
          </a:r>
          <a:endParaRPr lang="en-US" sz="1400" dirty="0"/>
        </a:p>
      </dgm:t>
    </dgm:pt>
    <dgm:pt modelId="{23DEE696-87CD-42C3-8680-49AE844A5FCA}" type="parTrans" cxnId="{43C1BCBD-EA5E-41FF-9BAA-3D3593C9ACC3}">
      <dgm:prSet/>
      <dgm:spPr/>
      <dgm:t>
        <a:bodyPr/>
        <a:lstStyle/>
        <a:p>
          <a:endParaRPr lang="en-US"/>
        </a:p>
      </dgm:t>
    </dgm:pt>
    <dgm:pt modelId="{E157FFB2-0B94-4978-AEB5-796ACF6099EE}" type="sibTrans" cxnId="{43C1BCBD-EA5E-41FF-9BAA-3D3593C9ACC3}">
      <dgm:prSet/>
      <dgm:spPr/>
      <dgm:t>
        <a:bodyPr/>
        <a:lstStyle/>
        <a:p>
          <a:endParaRPr lang="en-US"/>
        </a:p>
      </dgm:t>
    </dgm:pt>
    <dgm:pt modelId="{12329CB2-047C-4AC1-9302-438D14B080B0}">
      <dgm:prSet phldrT="[Text]" custT="1"/>
      <dgm:spPr/>
      <dgm:t>
        <a:bodyPr/>
        <a:lstStyle/>
        <a:p>
          <a:r>
            <a:rPr lang="en-US" sz="1400" dirty="0"/>
            <a:t>H</a:t>
          </a:r>
          <a:r>
            <a:rPr lang="en-US" sz="1400" baseline="-25000" dirty="0"/>
            <a:t>0</a:t>
          </a:r>
          <a:r>
            <a:rPr lang="en-US" sz="1400" dirty="0"/>
            <a:t>: Model classification accuracy = 0.5.</a:t>
          </a:r>
        </a:p>
      </dgm:t>
    </dgm:pt>
    <dgm:pt modelId="{F112DDD6-92EB-49AB-B5AD-A860C5ED223E}" type="parTrans" cxnId="{141EEC24-9F07-4104-86C8-AFCC3931F8DD}">
      <dgm:prSet/>
      <dgm:spPr/>
      <dgm:t>
        <a:bodyPr/>
        <a:lstStyle/>
        <a:p>
          <a:endParaRPr lang="en-US"/>
        </a:p>
      </dgm:t>
    </dgm:pt>
    <dgm:pt modelId="{1822D45F-F99C-4D0E-B9EF-144DC41FA732}" type="sibTrans" cxnId="{141EEC24-9F07-4104-86C8-AFCC3931F8DD}">
      <dgm:prSet/>
      <dgm:spPr/>
      <dgm:t>
        <a:bodyPr/>
        <a:lstStyle/>
        <a:p>
          <a:endParaRPr lang="en-US"/>
        </a:p>
      </dgm:t>
    </dgm:pt>
    <dgm:pt modelId="{E83767D8-2895-4ABD-894B-EC976A742008}">
      <dgm:prSet phldrT="[Text]" phldr="0" custT="1"/>
      <dgm:spPr/>
      <dgm:t>
        <a:bodyPr anchor="t"/>
        <a:lstStyle/>
        <a:p>
          <a:r>
            <a:rPr lang="en-US" sz="2400" dirty="0"/>
            <a:t>Research Question 1</a:t>
          </a:r>
        </a:p>
      </dgm:t>
    </dgm:pt>
    <dgm:pt modelId="{3A15AC15-CC3C-4F81-9A4E-0F73B02BD9F8}" type="sibTrans" cxnId="{D1691A73-758E-4395-ADFA-B0FEDA39B10B}">
      <dgm:prSet/>
      <dgm:spPr/>
      <dgm:t>
        <a:bodyPr/>
        <a:lstStyle/>
        <a:p>
          <a:endParaRPr lang="en-US"/>
        </a:p>
      </dgm:t>
    </dgm:pt>
    <dgm:pt modelId="{BFCE0433-FE32-449E-AA76-E8230D3E6FD9}" type="parTrans" cxnId="{D1691A73-758E-4395-ADFA-B0FEDA39B10B}">
      <dgm:prSet/>
      <dgm:spPr/>
      <dgm:t>
        <a:bodyPr/>
        <a:lstStyle/>
        <a:p>
          <a:endParaRPr lang="en-US"/>
        </a:p>
      </dgm:t>
    </dgm:pt>
    <dgm:pt modelId="{252A73FB-4800-4567-B966-30392EF83F7C}">
      <dgm:prSet custT="1"/>
      <dgm:spPr/>
      <dgm:t>
        <a:bodyPr/>
        <a:lstStyle/>
        <a:p>
          <a:r>
            <a:rPr lang="en-US" sz="1400" dirty="0"/>
            <a:t>H</a:t>
          </a:r>
          <a:r>
            <a:rPr lang="en-US" sz="1400" baseline="-25000" dirty="0"/>
            <a:t>1</a:t>
          </a:r>
          <a:r>
            <a:rPr lang="en-US" sz="1400" dirty="0"/>
            <a:t>: At least one regression coefficient </a:t>
          </a: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≠</a:t>
          </a:r>
          <a:r>
            <a:rPr lang="en-US" sz="1400" dirty="0"/>
            <a:t> 0.</a:t>
          </a:r>
        </a:p>
      </dgm:t>
    </dgm:pt>
    <dgm:pt modelId="{5F686C73-A4D2-4463-84E1-1AC121978589}" type="parTrans" cxnId="{B33C508C-6127-430D-B1A4-2FF79157C18F}">
      <dgm:prSet/>
      <dgm:spPr/>
      <dgm:t>
        <a:bodyPr/>
        <a:lstStyle/>
        <a:p>
          <a:endParaRPr lang="en-US"/>
        </a:p>
      </dgm:t>
    </dgm:pt>
    <dgm:pt modelId="{1494935F-F42A-479A-8368-CFEEA0BDBDD4}" type="sibTrans" cxnId="{B33C508C-6127-430D-B1A4-2FF79157C18F}">
      <dgm:prSet/>
      <dgm:spPr/>
      <dgm:t>
        <a:bodyPr/>
        <a:lstStyle/>
        <a:p>
          <a:endParaRPr lang="en-US"/>
        </a:p>
      </dgm:t>
    </dgm:pt>
    <dgm:pt modelId="{BB7E9AE6-19E7-4D96-BA37-D175C2983DE8}">
      <dgm:prSet custT="1"/>
      <dgm:spPr/>
      <dgm:t>
        <a:bodyPr/>
        <a:lstStyle/>
        <a:p>
          <a:r>
            <a:rPr lang="en-US" sz="1400" dirty="0"/>
            <a:t>H</a:t>
          </a:r>
          <a:r>
            <a:rPr lang="en-US" sz="1400" baseline="-25000" dirty="0"/>
            <a:t>1</a:t>
          </a:r>
          <a:r>
            <a:rPr lang="en-US" sz="1400" dirty="0"/>
            <a:t>: Neighborhood has a significant effect on price after controlling for physical features.</a:t>
          </a:r>
        </a:p>
      </dgm:t>
    </dgm:pt>
    <dgm:pt modelId="{6A9EDF19-58C8-477F-9F42-07C178BCB0A9}" type="parTrans" cxnId="{F58F8221-3D63-42A4-8000-4BD22A97C0BE}">
      <dgm:prSet/>
      <dgm:spPr/>
      <dgm:t>
        <a:bodyPr/>
        <a:lstStyle/>
        <a:p>
          <a:endParaRPr lang="en-US"/>
        </a:p>
      </dgm:t>
    </dgm:pt>
    <dgm:pt modelId="{92D03C16-F67B-4356-B906-4C58D1DA3188}" type="sibTrans" cxnId="{F58F8221-3D63-42A4-8000-4BD22A97C0BE}">
      <dgm:prSet/>
      <dgm:spPr/>
      <dgm:t>
        <a:bodyPr/>
        <a:lstStyle/>
        <a:p>
          <a:endParaRPr lang="en-US"/>
        </a:p>
      </dgm:t>
    </dgm:pt>
    <dgm:pt modelId="{3D595221-AD42-4233-87FC-1FA90BAA48E9}">
      <dgm:prSet custT="1"/>
      <dgm:spPr/>
      <dgm:t>
        <a:bodyPr/>
        <a:lstStyle/>
        <a:p>
          <a:r>
            <a:rPr lang="en-US" sz="1400" dirty="0"/>
            <a:t>H</a:t>
          </a:r>
          <a:r>
            <a:rPr lang="en-US" sz="1400" baseline="-25000" dirty="0"/>
            <a:t>1</a:t>
          </a:r>
          <a:r>
            <a:rPr lang="en-US" sz="1400" dirty="0"/>
            <a:t>: Model accuracy &gt; 0.5 - better than random chance.</a:t>
          </a:r>
        </a:p>
      </dgm:t>
    </dgm:pt>
    <dgm:pt modelId="{33D089C7-D3CE-4B2E-8A7C-2F893FD1F120}" type="parTrans" cxnId="{C578FADE-0B95-4875-BF52-C7E80006A933}">
      <dgm:prSet/>
      <dgm:spPr/>
      <dgm:t>
        <a:bodyPr/>
        <a:lstStyle/>
        <a:p>
          <a:endParaRPr lang="en-US"/>
        </a:p>
      </dgm:t>
    </dgm:pt>
    <dgm:pt modelId="{ED6FEA10-96B7-477B-BEBD-2604CA8D87B1}" type="sibTrans" cxnId="{C578FADE-0B95-4875-BF52-C7E80006A933}">
      <dgm:prSet/>
      <dgm:spPr/>
      <dgm:t>
        <a:bodyPr/>
        <a:lstStyle/>
        <a:p>
          <a:endParaRPr lang="en-US"/>
        </a:p>
      </dgm:t>
    </dgm:pt>
    <dgm:pt modelId="{B05E695B-ADE8-4953-A536-58303196D8B7}">
      <dgm:prSet phldrT="[Text]" custT="1"/>
      <dgm:spPr/>
      <dgm:t>
        <a:bodyPr/>
        <a:lstStyle/>
        <a:p>
          <a:endParaRPr lang="en-US" sz="1400" dirty="0"/>
        </a:p>
      </dgm:t>
    </dgm:pt>
    <dgm:pt modelId="{FBBB5610-6608-4BEF-9864-F345886A5613}" type="parTrans" cxnId="{F58F75E3-EFA8-4605-BF54-A57EF0D404DF}">
      <dgm:prSet/>
      <dgm:spPr/>
      <dgm:t>
        <a:bodyPr/>
        <a:lstStyle/>
        <a:p>
          <a:endParaRPr lang="en-US"/>
        </a:p>
      </dgm:t>
    </dgm:pt>
    <dgm:pt modelId="{B7E27736-9842-4623-9BDC-AC44AA36BBEF}" type="sibTrans" cxnId="{F58F75E3-EFA8-4605-BF54-A57EF0D404DF}">
      <dgm:prSet/>
      <dgm:spPr/>
      <dgm:t>
        <a:bodyPr/>
        <a:lstStyle/>
        <a:p>
          <a:endParaRPr lang="en-US"/>
        </a:p>
      </dgm:t>
    </dgm:pt>
    <dgm:pt modelId="{FC82B7E8-292F-4D82-887A-29CCFBAE1224}">
      <dgm:prSet phldrT="[Text]" custT="1"/>
      <dgm:spPr/>
      <dgm:t>
        <a:bodyPr/>
        <a:lstStyle/>
        <a:p>
          <a:endParaRPr lang="en-US" sz="1400" dirty="0"/>
        </a:p>
      </dgm:t>
    </dgm:pt>
    <dgm:pt modelId="{3E8E9AB7-317C-45C1-A894-2664A9251C0F}" type="parTrans" cxnId="{7E4D25DF-BC37-4D27-AA77-11F663E739F3}">
      <dgm:prSet/>
      <dgm:spPr/>
      <dgm:t>
        <a:bodyPr/>
        <a:lstStyle/>
        <a:p>
          <a:endParaRPr lang="en-US"/>
        </a:p>
      </dgm:t>
    </dgm:pt>
    <dgm:pt modelId="{7FB96AAC-0EEB-4AA3-8C3C-F4BBCEA79E7D}" type="sibTrans" cxnId="{7E4D25DF-BC37-4D27-AA77-11F663E739F3}">
      <dgm:prSet/>
      <dgm:spPr/>
      <dgm:t>
        <a:bodyPr/>
        <a:lstStyle/>
        <a:p>
          <a:endParaRPr lang="en-US"/>
        </a:p>
      </dgm:t>
    </dgm:pt>
    <dgm:pt modelId="{68F1642E-AC0A-4A9B-9C63-9C483611E24E}">
      <dgm:prSet phldrT="[Text]" custT="1"/>
      <dgm:spPr/>
      <dgm:t>
        <a:bodyPr/>
        <a:lstStyle/>
        <a:p>
          <a:r>
            <a:rPr lang="en-US" sz="1400" dirty="0"/>
            <a:t>H</a:t>
          </a:r>
          <a:r>
            <a:rPr lang="en-US" sz="1400" baseline="-25000" dirty="0"/>
            <a:t>0</a:t>
          </a:r>
          <a:r>
            <a:rPr lang="en-US" sz="1400" dirty="0"/>
            <a:t>: Neighborhood has no effect on price after controlling for physical features.</a:t>
          </a:r>
        </a:p>
      </dgm:t>
    </dgm:pt>
    <dgm:pt modelId="{624E72D3-E042-41F8-A5FF-962907E4A5AB}" type="parTrans" cxnId="{8A3EAF56-995E-456E-9293-74C8B811A76D}">
      <dgm:prSet/>
      <dgm:spPr/>
      <dgm:t>
        <a:bodyPr/>
        <a:lstStyle/>
        <a:p>
          <a:endParaRPr lang="en-US"/>
        </a:p>
      </dgm:t>
    </dgm:pt>
    <dgm:pt modelId="{3D5BE2AE-9AC8-49AA-AB89-3548ECD74233}" type="sibTrans" cxnId="{8A3EAF56-995E-456E-9293-74C8B811A76D}">
      <dgm:prSet/>
      <dgm:spPr/>
      <dgm:t>
        <a:bodyPr/>
        <a:lstStyle/>
        <a:p>
          <a:endParaRPr lang="en-US"/>
        </a:p>
      </dgm:t>
    </dgm:pt>
    <dgm:pt modelId="{123F8DAB-1B95-40AE-9606-7EB54EEFD279}">
      <dgm:prSet phldrT="[Text]" custT="1"/>
      <dgm:spPr/>
      <dgm:t>
        <a:bodyPr/>
        <a:lstStyle/>
        <a:p>
          <a:r>
            <a:rPr lang="en-US" sz="1400" dirty="0"/>
            <a:t>H</a:t>
          </a:r>
          <a:r>
            <a:rPr lang="en-US" sz="1400" baseline="-25000" dirty="0"/>
            <a:t>0</a:t>
          </a:r>
          <a:r>
            <a:rPr lang="en-US" sz="1400" dirty="0"/>
            <a:t>: All regression coefficients = 0.</a:t>
          </a:r>
        </a:p>
      </dgm:t>
    </dgm:pt>
    <dgm:pt modelId="{2B26C04D-A291-4E11-A2E2-C44E972393C5}" type="parTrans" cxnId="{DD1C8A0A-ACAD-479E-AADB-12789F9A0C83}">
      <dgm:prSet/>
      <dgm:spPr/>
      <dgm:t>
        <a:bodyPr/>
        <a:lstStyle/>
        <a:p>
          <a:endParaRPr lang="en-US"/>
        </a:p>
      </dgm:t>
    </dgm:pt>
    <dgm:pt modelId="{7EB40AA4-9F1B-41F5-907D-A87EA263560B}" type="sibTrans" cxnId="{DD1C8A0A-ACAD-479E-AADB-12789F9A0C83}">
      <dgm:prSet/>
      <dgm:spPr/>
      <dgm:t>
        <a:bodyPr/>
        <a:lstStyle/>
        <a:p>
          <a:endParaRPr lang="en-US"/>
        </a:p>
      </dgm:t>
    </dgm:pt>
    <dgm:pt modelId="{CCA791E0-481A-4FAD-9C7F-5D7FEA9E3CF1}">
      <dgm:prSet phldrT="[Text]" custT="1"/>
      <dgm:spPr/>
      <dgm:t>
        <a:bodyPr anchor="t"/>
        <a:lstStyle/>
        <a:p>
          <a:r>
            <a:rPr lang="en-US" sz="2400" dirty="0"/>
            <a:t>Research Question 3</a:t>
          </a:r>
        </a:p>
      </dgm:t>
    </dgm:pt>
    <dgm:pt modelId="{E7A88A3A-B069-4A9C-8217-EFB7C201587B}" type="sibTrans" cxnId="{B5C05574-2368-46F1-BA84-9A48E660F658}">
      <dgm:prSet/>
      <dgm:spPr/>
      <dgm:t>
        <a:bodyPr/>
        <a:lstStyle/>
        <a:p>
          <a:endParaRPr lang="en-US"/>
        </a:p>
      </dgm:t>
    </dgm:pt>
    <dgm:pt modelId="{E32356A5-6DD3-458A-A33E-F40900317DE5}" type="parTrans" cxnId="{B5C05574-2368-46F1-BA84-9A48E660F658}">
      <dgm:prSet/>
      <dgm:spPr/>
      <dgm:t>
        <a:bodyPr/>
        <a:lstStyle/>
        <a:p>
          <a:endParaRPr lang="en-US"/>
        </a:p>
      </dgm:t>
    </dgm:pt>
    <dgm:pt modelId="{047A9231-FEA5-4C3F-BFDE-873A8475D8DA}" type="pres">
      <dgm:prSet presAssocID="{797E628E-8337-4C9F-B89B-8D000D7C0DB7}" presName="Name0" presStyleCnt="0">
        <dgm:presLayoutVars>
          <dgm:dir/>
          <dgm:animLvl val="lvl"/>
          <dgm:resizeHandles val="exact"/>
        </dgm:presLayoutVars>
      </dgm:prSet>
      <dgm:spPr/>
    </dgm:pt>
    <dgm:pt modelId="{470B547C-766F-4E5D-818B-4865045E6A3E}" type="pres">
      <dgm:prSet presAssocID="{E83767D8-2895-4ABD-894B-EC976A742008}" presName="linNode" presStyleCnt="0"/>
      <dgm:spPr/>
    </dgm:pt>
    <dgm:pt modelId="{8EA2D4B1-872F-4A6C-A2E4-9DFABD26E638}" type="pres">
      <dgm:prSet presAssocID="{E83767D8-2895-4ABD-894B-EC976A742008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EA1670AB-7425-4AEF-B1E1-DA7AEA533258}" type="pres">
      <dgm:prSet presAssocID="{E83767D8-2895-4ABD-894B-EC976A742008}" presName="descendantText" presStyleLbl="alignAccFollowNode1" presStyleIdx="0" presStyleCnt="3">
        <dgm:presLayoutVars>
          <dgm:bulletEnabled val="1"/>
        </dgm:presLayoutVars>
      </dgm:prSet>
      <dgm:spPr/>
    </dgm:pt>
    <dgm:pt modelId="{12B0FA5F-8087-49C8-A14C-6A5CE65380A2}" type="pres">
      <dgm:prSet presAssocID="{3A15AC15-CC3C-4F81-9A4E-0F73B02BD9F8}" presName="sp" presStyleCnt="0"/>
      <dgm:spPr/>
    </dgm:pt>
    <dgm:pt modelId="{77C74C0D-E7DB-46A1-A00B-31F3D6DA0FA2}" type="pres">
      <dgm:prSet presAssocID="{000F0723-1053-47E4-9D88-C7E91D7178A5}" presName="linNode" presStyleCnt="0"/>
      <dgm:spPr/>
    </dgm:pt>
    <dgm:pt modelId="{D283D74A-BD2F-42BA-B4FD-867F840339ED}" type="pres">
      <dgm:prSet presAssocID="{000F0723-1053-47E4-9D88-C7E91D7178A5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46D7A852-7FC0-4C68-B8CE-1444D39B32D4}" type="pres">
      <dgm:prSet presAssocID="{000F0723-1053-47E4-9D88-C7E91D7178A5}" presName="descendantText" presStyleLbl="alignAccFollowNode1" presStyleIdx="1" presStyleCnt="3">
        <dgm:presLayoutVars>
          <dgm:bulletEnabled val="1"/>
        </dgm:presLayoutVars>
      </dgm:prSet>
      <dgm:spPr/>
    </dgm:pt>
    <dgm:pt modelId="{5F60B2F4-22B5-4259-AE85-217F4A5D84EC}" type="pres">
      <dgm:prSet presAssocID="{5CED87D0-E6CB-4393-87FA-9E9F97FA77C4}" presName="sp" presStyleCnt="0"/>
      <dgm:spPr/>
    </dgm:pt>
    <dgm:pt modelId="{6E783F54-D8F2-43B8-9082-EFFAD3BAAE17}" type="pres">
      <dgm:prSet presAssocID="{CCA791E0-481A-4FAD-9C7F-5D7FEA9E3CF1}" presName="linNode" presStyleCnt="0"/>
      <dgm:spPr/>
    </dgm:pt>
    <dgm:pt modelId="{CF2DB6D9-7B91-454D-9500-578764882F06}" type="pres">
      <dgm:prSet presAssocID="{CCA791E0-481A-4FAD-9C7F-5D7FEA9E3CF1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59D36307-9EA9-49F1-BC0E-29436E5A9C6F}" type="pres">
      <dgm:prSet presAssocID="{CCA791E0-481A-4FAD-9C7F-5D7FEA9E3CF1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DD1C8A0A-ACAD-479E-AADB-12789F9A0C83}" srcId="{E83767D8-2895-4ABD-894B-EC976A742008}" destId="{123F8DAB-1B95-40AE-9606-7EB54EEFD279}" srcOrd="2" destOrd="0" parTransId="{2B26C04D-A291-4E11-A2E2-C44E972393C5}" sibTransId="{7EB40AA4-9F1B-41F5-907D-A87EA263560B}"/>
    <dgm:cxn modelId="{521D2311-8949-4E73-88F3-4963A9DB7DFD}" type="presOf" srcId="{123F8DAB-1B95-40AE-9606-7EB54EEFD279}" destId="{EA1670AB-7425-4AEF-B1E1-DA7AEA533258}" srcOrd="0" destOrd="2" presId="urn:microsoft.com/office/officeart/2005/8/layout/vList5"/>
    <dgm:cxn modelId="{75874713-282D-4C5E-89B4-CB8FAC2DC92A}" type="presOf" srcId="{FC82B7E8-292F-4D82-887A-29CCFBAE1224}" destId="{59D36307-9EA9-49F1-BC0E-29436E5A9C6F}" srcOrd="0" destOrd="1" presId="urn:microsoft.com/office/officeart/2005/8/layout/vList5"/>
    <dgm:cxn modelId="{89CEF117-08D2-4D0A-B30F-0B605DECE5DF}" srcId="{797E628E-8337-4C9F-B89B-8D000D7C0DB7}" destId="{000F0723-1053-47E4-9D88-C7E91D7178A5}" srcOrd="1" destOrd="0" parTransId="{44F8C02A-6EF7-44EF-A4F6-0E65ECF5E2C2}" sibTransId="{5CED87D0-E6CB-4393-87FA-9E9F97FA77C4}"/>
    <dgm:cxn modelId="{552D391C-34A7-4590-A72D-A2611572079B}" type="presOf" srcId="{CCA791E0-481A-4FAD-9C7F-5D7FEA9E3CF1}" destId="{CF2DB6D9-7B91-454D-9500-578764882F06}" srcOrd="0" destOrd="0" presId="urn:microsoft.com/office/officeart/2005/8/layout/vList5"/>
    <dgm:cxn modelId="{F58F8221-3D63-42A4-8000-4BD22A97C0BE}" srcId="{000F0723-1053-47E4-9D88-C7E91D7178A5}" destId="{BB7E9AE6-19E7-4D96-BA37-D175C2983DE8}" srcOrd="2" destOrd="0" parTransId="{6A9EDF19-58C8-477F-9F42-07C178BCB0A9}" sibTransId="{92D03C16-F67B-4356-B906-4C58D1DA3188}"/>
    <dgm:cxn modelId="{141EEC24-9F07-4104-86C8-AFCC3931F8DD}" srcId="{CCA791E0-481A-4FAD-9C7F-5D7FEA9E3CF1}" destId="{12329CB2-047C-4AC1-9302-438D14B080B0}" srcOrd="2" destOrd="0" parTransId="{F112DDD6-92EB-49AB-B5AD-A860C5ED223E}" sibTransId="{1822D45F-F99C-4D0E-B9EF-144DC41FA732}"/>
    <dgm:cxn modelId="{91788D40-62B2-425A-B9BE-37F3AE1C4855}" type="presOf" srcId="{000F0723-1053-47E4-9D88-C7E91D7178A5}" destId="{D283D74A-BD2F-42BA-B4FD-867F840339ED}" srcOrd="0" destOrd="0" presId="urn:microsoft.com/office/officeart/2005/8/layout/vList5"/>
    <dgm:cxn modelId="{6AFA5065-9D6F-436A-92D4-827B458092CB}" type="presOf" srcId="{B05E695B-ADE8-4953-A536-58303196D8B7}" destId="{EA1670AB-7425-4AEF-B1E1-DA7AEA533258}" srcOrd="0" destOrd="1" presId="urn:microsoft.com/office/officeart/2005/8/layout/vList5"/>
    <dgm:cxn modelId="{C4247D67-BFC8-4EC9-BBB4-D7209208A7BE}" srcId="{E83767D8-2895-4ABD-894B-EC976A742008}" destId="{2A0E556F-42AC-4AC7-85F9-2F0966730E3A}" srcOrd="0" destOrd="0" parTransId="{1A0D4245-2844-4A8B-AE9F-E8033865A985}" sibTransId="{37A3F530-3768-48C8-8240-1FEF5DBB1E91}"/>
    <dgm:cxn modelId="{0EFA866C-32C2-420E-BA8E-3C6D497CCF1A}" type="presOf" srcId="{E592E30F-70AC-43A2-AC95-7B119F0A0CA0}" destId="{46D7A852-7FC0-4C68-B8CE-1444D39B32D4}" srcOrd="0" destOrd="0" presId="urn:microsoft.com/office/officeart/2005/8/layout/vList5"/>
    <dgm:cxn modelId="{C534EB6E-4173-482D-8CDC-6B693F52CD9E}" type="presOf" srcId="{12329CB2-047C-4AC1-9302-438D14B080B0}" destId="{59D36307-9EA9-49F1-BC0E-29436E5A9C6F}" srcOrd="0" destOrd="2" presId="urn:microsoft.com/office/officeart/2005/8/layout/vList5"/>
    <dgm:cxn modelId="{D1691A73-758E-4395-ADFA-B0FEDA39B10B}" srcId="{797E628E-8337-4C9F-B89B-8D000D7C0DB7}" destId="{E83767D8-2895-4ABD-894B-EC976A742008}" srcOrd="0" destOrd="0" parTransId="{BFCE0433-FE32-449E-AA76-E8230D3E6FD9}" sibTransId="{3A15AC15-CC3C-4F81-9A4E-0F73B02BD9F8}"/>
    <dgm:cxn modelId="{B5C05574-2368-46F1-BA84-9A48E660F658}" srcId="{797E628E-8337-4C9F-B89B-8D000D7C0DB7}" destId="{CCA791E0-481A-4FAD-9C7F-5D7FEA9E3CF1}" srcOrd="2" destOrd="0" parTransId="{E32356A5-6DD3-458A-A33E-F40900317DE5}" sibTransId="{E7A88A3A-B069-4A9C-8217-EFB7C201587B}"/>
    <dgm:cxn modelId="{8A3EAF56-995E-456E-9293-74C8B811A76D}" srcId="{000F0723-1053-47E4-9D88-C7E91D7178A5}" destId="{68F1642E-AC0A-4A9B-9C63-9C483611E24E}" srcOrd="1" destOrd="0" parTransId="{624E72D3-E042-41F8-A5FF-962907E4A5AB}" sibTransId="{3D5BE2AE-9AC8-49AA-AB89-3548ECD74233}"/>
    <dgm:cxn modelId="{73387188-4831-41CA-AC70-7A03387C13AC}" type="presOf" srcId="{3D595221-AD42-4233-87FC-1FA90BAA48E9}" destId="{59D36307-9EA9-49F1-BC0E-29436E5A9C6F}" srcOrd="0" destOrd="3" presId="urn:microsoft.com/office/officeart/2005/8/layout/vList5"/>
    <dgm:cxn modelId="{46525789-06A1-4FE5-B240-02408FEB9AC1}" type="presOf" srcId="{797E628E-8337-4C9F-B89B-8D000D7C0DB7}" destId="{047A9231-FEA5-4C3F-BFDE-873A8475D8DA}" srcOrd="0" destOrd="0" presId="urn:microsoft.com/office/officeart/2005/8/layout/vList5"/>
    <dgm:cxn modelId="{BB6FAC89-0379-4A1B-A95E-193ABE33ECF3}" type="presOf" srcId="{252A73FB-4800-4567-B966-30392EF83F7C}" destId="{EA1670AB-7425-4AEF-B1E1-DA7AEA533258}" srcOrd="0" destOrd="3" presId="urn:microsoft.com/office/officeart/2005/8/layout/vList5"/>
    <dgm:cxn modelId="{B33C508C-6127-430D-B1A4-2FF79157C18F}" srcId="{E83767D8-2895-4ABD-894B-EC976A742008}" destId="{252A73FB-4800-4567-B966-30392EF83F7C}" srcOrd="3" destOrd="0" parTransId="{5F686C73-A4D2-4463-84E1-1AC121978589}" sibTransId="{1494935F-F42A-479A-8368-CFEEA0BDBDD4}"/>
    <dgm:cxn modelId="{67D008A3-21C0-4BDD-8078-5520E551AC82}" type="presOf" srcId="{2A0E556F-42AC-4AC7-85F9-2F0966730E3A}" destId="{EA1670AB-7425-4AEF-B1E1-DA7AEA533258}" srcOrd="0" destOrd="0" presId="urn:microsoft.com/office/officeart/2005/8/layout/vList5"/>
    <dgm:cxn modelId="{731F45A9-E01D-491E-A387-A331501E7B5F}" type="presOf" srcId="{19E6BCF4-24AF-4AC2-ADB9-1DEB4FE880E3}" destId="{59D36307-9EA9-49F1-BC0E-29436E5A9C6F}" srcOrd="0" destOrd="0" presId="urn:microsoft.com/office/officeart/2005/8/layout/vList5"/>
    <dgm:cxn modelId="{8BA211AA-A125-45F2-8E06-FA8E8C7ED9D6}" srcId="{000F0723-1053-47E4-9D88-C7E91D7178A5}" destId="{E592E30F-70AC-43A2-AC95-7B119F0A0CA0}" srcOrd="0" destOrd="0" parTransId="{415B5129-5368-4FCF-ADA2-F2DEC41ECF47}" sibTransId="{40E0A695-1259-4E70-8B85-1F8C02688004}"/>
    <dgm:cxn modelId="{43C1BCBD-EA5E-41FF-9BAA-3D3593C9ACC3}" srcId="{CCA791E0-481A-4FAD-9C7F-5D7FEA9E3CF1}" destId="{19E6BCF4-24AF-4AC2-ADB9-1DEB4FE880E3}" srcOrd="0" destOrd="0" parTransId="{23DEE696-87CD-42C3-8680-49AE844A5FCA}" sibTransId="{E157FFB2-0B94-4978-AEB5-796ACF6099EE}"/>
    <dgm:cxn modelId="{B47396C6-2611-4A08-8878-1427B8C45B03}" type="presOf" srcId="{E83767D8-2895-4ABD-894B-EC976A742008}" destId="{8EA2D4B1-872F-4A6C-A2E4-9DFABD26E638}" srcOrd="0" destOrd="0" presId="urn:microsoft.com/office/officeart/2005/8/layout/vList5"/>
    <dgm:cxn modelId="{C578FADE-0B95-4875-BF52-C7E80006A933}" srcId="{CCA791E0-481A-4FAD-9C7F-5D7FEA9E3CF1}" destId="{3D595221-AD42-4233-87FC-1FA90BAA48E9}" srcOrd="3" destOrd="0" parTransId="{33D089C7-D3CE-4B2E-8A7C-2F893FD1F120}" sibTransId="{ED6FEA10-96B7-477B-BEBD-2604CA8D87B1}"/>
    <dgm:cxn modelId="{7E4D25DF-BC37-4D27-AA77-11F663E739F3}" srcId="{CCA791E0-481A-4FAD-9C7F-5D7FEA9E3CF1}" destId="{FC82B7E8-292F-4D82-887A-29CCFBAE1224}" srcOrd="1" destOrd="0" parTransId="{3E8E9AB7-317C-45C1-A894-2664A9251C0F}" sibTransId="{7FB96AAC-0EEB-4AA3-8C3C-F4BBCEA79E7D}"/>
    <dgm:cxn modelId="{F58F75E3-EFA8-4605-BF54-A57EF0D404DF}" srcId="{E83767D8-2895-4ABD-894B-EC976A742008}" destId="{B05E695B-ADE8-4953-A536-58303196D8B7}" srcOrd="1" destOrd="0" parTransId="{FBBB5610-6608-4BEF-9864-F345886A5613}" sibTransId="{B7E27736-9842-4623-9BDC-AC44AA36BBEF}"/>
    <dgm:cxn modelId="{27D12FEF-510A-4335-B227-D3FC312B204B}" type="presOf" srcId="{BB7E9AE6-19E7-4D96-BA37-D175C2983DE8}" destId="{46D7A852-7FC0-4C68-B8CE-1444D39B32D4}" srcOrd="0" destOrd="2" presId="urn:microsoft.com/office/officeart/2005/8/layout/vList5"/>
    <dgm:cxn modelId="{F6C657FB-6B3D-4BCA-951E-8B3C1BF422CB}" type="presOf" srcId="{68F1642E-AC0A-4A9B-9C63-9C483611E24E}" destId="{46D7A852-7FC0-4C68-B8CE-1444D39B32D4}" srcOrd="0" destOrd="1" presId="urn:microsoft.com/office/officeart/2005/8/layout/vList5"/>
    <dgm:cxn modelId="{E2FC484B-684D-4373-BEFD-5F9825036565}" type="presParOf" srcId="{047A9231-FEA5-4C3F-BFDE-873A8475D8DA}" destId="{470B547C-766F-4E5D-818B-4865045E6A3E}" srcOrd="0" destOrd="0" presId="urn:microsoft.com/office/officeart/2005/8/layout/vList5"/>
    <dgm:cxn modelId="{82F04056-EC2A-4AC0-8EC3-FC2697C11411}" type="presParOf" srcId="{470B547C-766F-4E5D-818B-4865045E6A3E}" destId="{8EA2D4B1-872F-4A6C-A2E4-9DFABD26E638}" srcOrd="0" destOrd="0" presId="urn:microsoft.com/office/officeart/2005/8/layout/vList5"/>
    <dgm:cxn modelId="{2D24A5FC-958E-4624-8A82-1C34BC0CDFFA}" type="presParOf" srcId="{470B547C-766F-4E5D-818B-4865045E6A3E}" destId="{EA1670AB-7425-4AEF-B1E1-DA7AEA533258}" srcOrd="1" destOrd="0" presId="urn:microsoft.com/office/officeart/2005/8/layout/vList5"/>
    <dgm:cxn modelId="{742C3CE7-440B-40EF-AFE2-C808847F31A1}" type="presParOf" srcId="{047A9231-FEA5-4C3F-BFDE-873A8475D8DA}" destId="{12B0FA5F-8087-49C8-A14C-6A5CE65380A2}" srcOrd="1" destOrd="0" presId="urn:microsoft.com/office/officeart/2005/8/layout/vList5"/>
    <dgm:cxn modelId="{6309D1E8-49BE-4BC9-82DD-11E8F5201FB6}" type="presParOf" srcId="{047A9231-FEA5-4C3F-BFDE-873A8475D8DA}" destId="{77C74C0D-E7DB-46A1-A00B-31F3D6DA0FA2}" srcOrd="2" destOrd="0" presId="urn:microsoft.com/office/officeart/2005/8/layout/vList5"/>
    <dgm:cxn modelId="{7AF1016F-975D-4DCC-AFAC-3F9962D7572D}" type="presParOf" srcId="{77C74C0D-E7DB-46A1-A00B-31F3D6DA0FA2}" destId="{D283D74A-BD2F-42BA-B4FD-867F840339ED}" srcOrd="0" destOrd="0" presId="urn:microsoft.com/office/officeart/2005/8/layout/vList5"/>
    <dgm:cxn modelId="{D272DB10-239F-4959-A6C8-E7C529A8974C}" type="presParOf" srcId="{77C74C0D-E7DB-46A1-A00B-31F3D6DA0FA2}" destId="{46D7A852-7FC0-4C68-B8CE-1444D39B32D4}" srcOrd="1" destOrd="0" presId="urn:microsoft.com/office/officeart/2005/8/layout/vList5"/>
    <dgm:cxn modelId="{2812D467-0322-4C1C-B3D6-606F51CDE456}" type="presParOf" srcId="{047A9231-FEA5-4C3F-BFDE-873A8475D8DA}" destId="{5F60B2F4-22B5-4259-AE85-217F4A5D84EC}" srcOrd="3" destOrd="0" presId="urn:microsoft.com/office/officeart/2005/8/layout/vList5"/>
    <dgm:cxn modelId="{30BFAECF-D310-403C-9B49-DE56AC0DDCFA}" type="presParOf" srcId="{047A9231-FEA5-4C3F-BFDE-873A8475D8DA}" destId="{6E783F54-D8F2-43B8-9082-EFFAD3BAAE17}" srcOrd="4" destOrd="0" presId="urn:microsoft.com/office/officeart/2005/8/layout/vList5"/>
    <dgm:cxn modelId="{D5E2DC32-EC55-4D8B-ADCD-DD94597E5471}" type="presParOf" srcId="{6E783F54-D8F2-43B8-9082-EFFAD3BAAE17}" destId="{CF2DB6D9-7B91-454D-9500-578764882F06}" srcOrd="0" destOrd="0" presId="urn:microsoft.com/office/officeart/2005/8/layout/vList5"/>
    <dgm:cxn modelId="{44E48E22-40FF-4F2C-AA19-527158EC1B60}" type="presParOf" srcId="{6E783F54-D8F2-43B8-9082-EFFAD3BAAE17}" destId="{59D36307-9EA9-49F1-BC0E-29436E5A9C6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97E628E-8337-4C9F-B89B-8D000D7C0DB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0E556F-42AC-4AC7-85F9-2F0966730E3A}">
      <dgm:prSet phldrT="[Text]" custT="1"/>
      <dgm:spPr/>
      <dgm:t>
        <a:bodyPr/>
        <a:lstStyle/>
        <a:p>
          <a:pPr>
            <a:buNone/>
          </a:pPr>
          <a:r>
            <a:rPr lang="en-US" sz="1400" b="1" dirty="0"/>
            <a:t>What physical attributes of a home most strongly predict its sale price?</a:t>
          </a:r>
          <a:endParaRPr lang="en-US" sz="1400" dirty="0"/>
        </a:p>
      </dgm:t>
    </dgm:pt>
    <dgm:pt modelId="{1A0D4245-2844-4A8B-AE9F-E8033865A985}" type="parTrans" cxnId="{C4247D67-BFC8-4EC9-BBB4-D7209208A7BE}">
      <dgm:prSet/>
      <dgm:spPr/>
      <dgm:t>
        <a:bodyPr/>
        <a:lstStyle/>
        <a:p>
          <a:endParaRPr lang="en-US"/>
        </a:p>
      </dgm:t>
    </dgm:pt>
    <dgm:pt modelId="{37A3F530-3768-48C8-8240-1FEF5DBB1E91}" type="sibTrans" cxnId="{C4247D67-BFC8-4EC9-BBB4-D7209208A7BE}">
      <dgm:prSet/>
      <dgm:spPr/>
      <dgm:t>
        <a:bodyPr/>
        <a:lstStyle/>
        <a:p>
          <a:endParaRPr lang="en-US"/>
        </a:p>
      </dgm:t>
    </dgm:pt>
    <dgm:pt modelId="{000F0723-1053-47E4-9D88-C7E91D7178A5}">
      <dgm:prSet phldrT="[Text]" custT="1"/>
      <dgm:spPr/>
      <dgm:t>
        <a:bodyPr anchor="t"/>
        <a:lstStyle/>
        <a:p>
          <a:r>
            <a:rPr lang="en-US" sz="2400" dirty="0"/>
            <a:t>Research Question 2</a:t>
          </a:r>
        </a:p>
      </dgm:t>
    </dgm:pt>
    <dgm:pt modelId="{44F8C02A-6EF7-44EF-A4F6-0E65ECF5E2C2}" type="parTrans" cxnId="{89CEF117-08D2-4D0A-B30F-0B605DECE5DF}">
      <dgm:prSet/>
      <dgm:spPr/>
      <dgm:t>
        <a:bodyPr/>
        <a:lstStyle/>
        <a:p>
          <a:endParaRPr lang="en-US"/>
        </a:p>
      </dgm:t>
    </dgm:pt>
    <dgm:pt modelId="{5CED87D0-E6CB-4393-87FA-9E9F97FA77C4}" type="sibTrans" cxnId="{89CEF117-08D2-4D0A-B30F-0B605DECE5DF}">
      <dgm:prSet/>
      <dgm:spPr/>
      <dgm:t>
        <a:bodyPr/>
        <a:lstStyle/>
        <a:p>
          <a:endParaRPr lang="en-US"/>
        </a:p>
      </dgm:t>
    </dgm:pt>
    <dgm:pt modelId="{E592E30F-70AC-43A2-AC95-7B119F0A0CA0}">
      <dgm:prSet phldrT="[Text]" custT="1"/>
      <dgm:spPr/>
      <dgm:t>
        <a:bodyPr/>
        <a:lstStyle/>
        <a:p>
          <a:pPr>
            <a:buNone/>
          </a:pPr>
          <a:r>
            <a:rPr lang="en-US" sz="1400" b="1" dirty="0"/>
            <a:t>Does neighborhood significantly affect home sale prices with house size, quality, and other impactful variables controlled?</a:t>
          </a:r>
          <a:endParaRPr lang="en-US" sz="1400" dirty="0"/>
        </a:p>
      </dgm:t>
    </dgm:pt>
    <dgm:pt modelId="{415B5129-5368-4FCF-ADA2-F2DEC41ECF47}" type="parTrans" cxnId="{8BA211AA-A125-45F2-8E06-FA8E8C7ED9D6}">
      <dgm:prSet/>
      <dgm:spPr/>
      <dgm:t>
        <a:bodyPr/>
        <a:lstStyle/>
        <a:p>
          <a:endParaRPr lang="en-US"/>
        </a:p>
      </dgm:t>
    </dgm:pt>
    <dgm:pt modelId="{40E0A695-1259-4E70-8B85-1F8C02688004}" type="sibTrans" cxnId="{8BA211AA-A125-45F2-8E06-FA8E8C7ED9D6}">
      <dgm:prSet/>
      <dgm:spPr/>
      <dgm:t>
        <a:bodyPr/>
        <a:lstStyle/>
        <a:p>
          <a:endParaRPr lang="en-US"/>
        </a:p>
      </dgm:t>
    </dgm:pt>
    <dgm:pt modelId="{19E6BCF4-24AF-4AC2-ADB9-1DEB4FE880E3}">
      <dgm:prSet phldrT="[Text]" custT="1"/>
      <dgm:spPr/>
      <dgm:t>
        <a:bodyPr/>
        <a:lstStyle/>
        <a:p>
          <a:pPr>
            <a:buNone/>
          </a:pPr>
          <a:r>
            <a:rPr lang="en-US" sz="1400" b="1" dirty="0"/>
            <a:t>Can it be predicted whether a house will sell above the median price based on its features?</a:t>
          </a:r>
          <a:endParaRPr lang="en-US" sz="1400" dirty="0"/>
        </a:p>
      </dgm:t>
    </dgm:pt>
    <dgm:pt modelId="{23DEE696-87CD-42C3-8680-49AE844A5FCA}" type="parTrans" cxnId="{43C1BCBD-EA5E-41FF-9BAA-3D3593C9ACC3}">
      <dgm:prSet/>
      <dgm:spPr/>
      <dgm:t>
        <a:bodyPr/>
        <a:lstStyle/>
        <a:p>
          <a:endParaRPr lang="en-US"/>
        </a:p>
      </dgm:t>
    </dgm:pt>
    <dgm:pt modelId="{E157FFB2-0B94-4978-AEB5-796ACF6099EE}" type="sibTrans" cxnId="{43C1BCBD-EA5E-41FF-9BAA-3D3593C9ACC3}">
      <dgm:prSet/>
      <dgm:spPr/>
      <dgm:t>
        <a:bodyPr/>
        <a:lstStyle/>
        <a:p>
          <a:endParaRPr lang="en-US"/>
        </a:p>
      </dgm:t>
    </dgm:pt>
    <dgm:pt modelId="{12329CB2-047C-4AC1-9302-438D14B080B0}">
      <dgm:prSet phldrT="[Text]" custT="1"/>
      <dgm:spPr/>
      <dgm:t>
        <a:bodyPr/>
        <a:lstStyle/>
        <a:p>
          <a:r>
            <a:rPr lang="en-US" sz="1400" dirty="0"/>
            <a:t>Reject H</a:t>
          </a:r>
          <a:r>
            <a:rPr lang="en-US" sz="1400" baseline="-25000" dirty="0"/>
            <a:t>0</a:t>
          </a:r>
          <a:r>
            <a:rPr lang="en-US" sz="1400" dirty="0"/>
            <a:t>. Logistic regression can accurately predict whether a home will sell above or below median price based on its features with a  90.25% accuracy. Z = 16.1, p &lt; 0.0001. </a:t>
          </a:r>
        </a:p>
      </dgm:t>
    </dgm:pt>
    <dgm:pt modelId="{F112DDD6-92EB-49AB-B5AD-A860C5ED223E}" type="parTrans" cxnId="{141EEC24-9F07-4104-86C8-AFCC3931F8DD}">
      <dgm:prSet/>
      <dgm:spPr/>
      <dgm:t>
        <a:bodyPr/>
        <a:lstStyle/>
        <a:p>
          <a:endParaRPr lang="en-US"/>
        </a:p>
      </dgm:t>
    </dgm:pt>
    <dgm:pt modelId="{1822D45F-F99C-4D0E-B9EF-144DC41FA732}" type="sibTrans" cxnId="{141EEC24-9F07-4104-86C8-AFCC3931F8DD}">
      <dgm:prSet/>
      <dgm:spPr/>
      <dgm:t>
        <a:bodyPr/>
        <a:lstStyle/>
        <a:p>
          <a:endParaRPr lang="en-US"/>
        </a:p>
      </dgm:t>
    </dgm:pt>
    <dgm:pt modelId="{E83767D8-2895-4ABD-894B-EC976A742008}">
      <dgm:prSet phldrT="[Text]" phldr="0" custT="1"/>
      <dgm:spPr/>
      <dgm:t>
        <a:bodyPr anchor="t"/>
        <a:lstStyle/>
        <a:p>
          <a:r>
            <a:rPr lang="en-US" sz="2400" dirty="0"/>
            <a:t>Research Question 1</a:t>
          </a:r>
        </a:p>
      </dgm:t>
    </dgm:pt>
    <dgm:pt modelId="{3A15AC15-CC3C-4F81-9A4E-0F73B02BD9F8}" type="sibTrans" cxnId="{D1691A73-758E-4395-ADFA-B0FEDA39B10B}">
      <dgm:prSet/>
      <dgm:spPr/>
      <dgm:t>
        <a:bodyPr/>
        <a:lstStyle/>
        <a:p>
          <a:endParaRPr lang="en-US"/>
        </a:p>
      </dgm:t>
    </dgm:pt>
    <dgm:pt modelId="{BFCE0433-FE32-449E-AA76-E8230D3E6FD9}" type="parTrans" cxnId="{D1691A73-758E-4395-ADFA-B0FEDA39B10B}">
      <dgm:prSet/>
      <dgm:spPr/>
      <dgm:t>
        <a:bodyPr/>
        <a:lstStyle/>
        <a:p>
          <a:endParaRPr lang="en-US"/>
        </a:p>
      </dgm:t>
    </dgm:pt>
    <dgm:pt modelId="{BB7E9AE6-19E7-4D96-BA37-D175C2983DE8}">
      <dgm:prSet custT="1"/>
      <dgm:spPr/>
      <dgm:t>
        <a:bodyPr/>
        <a:lstStyle/>
        <a:p>
          <a:r>
            <a:rPr lang="en-US" sz="1400" dirty="0"/>
            <a:t>Neighborhood significantly affects price with F = 3.01 and p-value = 0.000029.</a:t>
          </a:r>
        </a:p>
      </dgm:t>
    </dgm:pt>
    <dgm:pt modelId="{6A9EDF19-58C8-477F-9F42-07C178BCB0A9}" type="parTrans" cxnId="{F58F8221-3D63-42A4-8000-4BD22A97C0BE}">
      <dgm:prSet/>
      <dgm:spPr/>
      <dgm:t>
        <a:bodyPr/>
        <a:lstStyle/>
        <a:p>
          <a:endParaRPr lang="en-US"/>
        </a:p>
      </dgm:t>
    </dgm:pt>
    <dgm:pt modelId="{92D03C16-F67B-4356-B906-4C58D1DA3188}" type="sibTrans" cxnId="{F58F8221-3D63-42A4-8000-4BD22A97C0BE}">
      <dgm:prSet/>
      <dgm:spPr/>
      <dgm:t>
        <a:bodyPr/>
        <a:lstStyle/>
        <a:p>
          <a:endParaRPr lang="en-US"/>
        </a:p>
      </dgm:t>
    </dgm:pt>
    <dgm:pt modelId="{B05E695B-ADE8-4953-A536-58303196D8B7}">
      <dgm:prSet phldrT="[Text]" custT="1"/>
      <dgm:spPr/>
      <dgm:t>
        <a:bodyPr/>
        <a:lstStyle/>
        <a:p>
          <a:endParaRPr lang="en-US" sz="1400" dirty="0"/>
        </a:p>
      </dgm:t>
    </dgm:pt>
    <dgm:pt modelId="{FBBB5610-6608-4BEF-9864-F345886A5613}" type="parTrans" cxnId="{F58F75E3-EFA8-4605-BF54-A57EF0D404DF}">
      <dgm:prSet/>
      <dgm:spPr/>
      <dgm:t>
        <a:bodyPr/>
        <a:lstStyle/>
        <a:p>
          <a:endParaRPr lang="en-US"/>
        </a:p>
      </dgm:t>
    </dgm:pt>
    <dgm:pt modelId="{B7E27736-9842-4623-9BDC-AC44AA36BBEF}" type="sibTrans" cxnId="{F58F75E3-EFA8-4605-BF54-A57EF0D404DF}">
      <dgm:prSet/>
      <dgm:spPr/>
      <dgm:t>
        <a:bodyPr/>
        <a:lstStyle/>
        <a:p>
          <a:endParaRPr lang="en-US"/>
        </a:p>
      </dgm:t>
    </dgm:pt>
    <dgm:pt modelId="{FC82B7E8-292F-4D82-887A-29CCFBAE1224}">
      <dgm:prSet phldrT="[Text]" custT="1"/>
      <dgm:spPr/>
      <dgm:t>
        <a:bodyPr/>
        <a:lstStyle/>
        <a:p>
          <a:endParaRPr lang="en-US" sz="1400" dirty="0"/>
        </a:p>
      </dgm:t>
    </dgm:pt>
    <dgm:pt modelId="{3E8E9AB7-317C-45C1-A894-2664A9251C0F}" type="parTrans" cxnId="{7E4D25DF-BC37-4D27-AA77-11F663E739F3}">
      <dgm:prSet/>
      <dgm:spPr/>
      <dgm:t>
        <a:bodyPr/>
        <a:lstStyle/>
        <a:p>
          <a:endParaRPr lang="en-US"/>
        </a:p>
      </dgm:t>
    </dgm:pt>
    <dgm:pt modelId="{7FB96AAC-0EEB-4AA3-8C3C-F4BBCEA79E7D}" type="sibTrans" cxnId="{7E4D25DF-BC37-4D27-AA77-11F663E739F3}">
      <dgm:prSet/>
      <dgm:spPr/>
      <dgm:t>
        <a:bodyPr/>
        <a:lstStyle/>
        <a:p>
          <a:endParaRPr lang="en-US"/>
        </a:p>
      </dgm:t>
    </dgm:pt>
    <dgm:pt modelId="{68F1642E-AC0A-4A9B-9C63-9C483611E24E}">
      <dgm:prSet phldrT="[Text]" custT="1"/>
      <dgm:spPr/>
      <dgm:t>
        <a:bodyPr/>
        <a:lstStyle/>
        <a:p>
          <a:endParaRPr lang="en-US" sz="1400" dirty="0"/>
        </a:p>
      </dgm:t>
    </dgm:pt>
    <dgm:pt modelId="{624E72D3-E042-41F8-A5FF-962907E4A5AB}" type="parTrans" cxnId="{8A3EAF56-995E-456E-9293-74C8B811A76D}">
      <dgm:prSet/>
      <dgm:spPr/>
      <dgm:t>
        <a:bodyPr/>
        <a:lstStyle/>
        <a:p>
          <a:endParaRPr lang="en-US"/>
        </a:p>
      </dgm:t>
    </dgm:pt>
    <dgm:pt modelId="{3D5BE2AE-9AC8-49AA-AB89-3548ECD74233}" type="sibTrans" cxnId="{8A3EAF56-995E-456E-9293-74C8B811A76D}">
      <dgm:prSet/>
      <dgm:spPr/>
      <dgm:t>
        <a:bodyPr/>
        <a:lstStyle/>
        <a:p>
          <a:endParaRPr lang="en-US"/>
        </a:p>
      </dgm:t>
    </dgm:pt>
    <dgm:pt modelId="{123F8DAB-1B95-40AE-9606-7EB54EEFD279}">
      <dgm:prSet phldrT="[Text]" custT="1"/>
      <dgm:spPr/>
      <dgm:t>
        <a:bodyPr/>
        <a:lstStyle/>
        <a:p>
          <a:r>
            <a:rPr lang="en-US" sz="1400" dirty="0"/>
            <a:t>Reject H</a:t>
          </a:r>
          <a:r>
            <a:rPr lang="en-US" sz="1400" baseline="-25000" dirty="0"/>
            <a:t>0</a:t>
          </a:r>
          <a:r>
            <a:rPr lang="en-US" sz="1400" dirty="0"/>
            <a:t>. Physical features drive price variance.</a:t>
          </a:r>
        </a:p>
      </dgm:t>
    </dgm:pt>
    <dgm:pt modelId="{2B26C04D-A291-4E11-A2E2-C44E972393C5}" type="parTrans" cxnId="{DD1C8A0A-ACAD-479E-AADB-12789F9A0C83}">
      <dgm:prSet/>
      <dgm:spPr/>
      <dgm:t>
        <a:bodyPr/>
        <a:lstStyle/>
        <a:p>
          <a:endParaRPr lang="en-US"/>
        </a:p>
      </dgm:t>
    </dgm:pt>
    <dgm:pt modelId="{7EB40AA4-9F1B-41F5-907D-A87EA263560B}" type="sibTrans" cxnId="{DD1C8A0A-ACAD-479E-AADB-12789F9A0C83}">
      <dgm:prSet/>
      <dgm:spPr/>
      <dgm:t>
        <a:bodyPr/>
        <a:lstStyle/>
        <a:p>
          <a:endParaRPr lang="en-US"/>
        </a:p>
      </dgm:t>
    </dgm:pt>
    <dgm:pt modelId="{CCA791E0-481A-4FAD-9C7F-5D7FEA9E3CF1}">
      <dgm:prSet phldrT="[Text]" custT="1"/>
      <dgm:spPr/>
      <dgm:t>
        <a:bodyPr anchor="t"/>
        <a:lstStyle/>
        <a:p>
          <a:r>
            <a:rPr lang="en-US" sz="2400" dirty="0"/>
            <a:t>Research Question 3</a:t>
          </a:r>
        </a:p>
      </dgm:t>
    </dgm:pt>
    <dgm:pt modelId="{E7A88A3A-B069-4A9C-8217-EFB7C201587B}" type="sibTrans" cxnId="{B5C05574-2368-46F1-BA84-9A48E660F658}">
      <dgm:prSet/>
      <dgm:spPr/>
      <dgm:t>
        <a:bodyPr/>
        <a:lstStyle/>
        <a:p>
          <a:endParaRPr lang="en-US"/>
        </a:p>
      </dgm:t>
    </dgm:pt>
    <dgm:pt modelId="{E32356A5-6DD3-458A-A33E-F40900317DE5}" type="parTrans" cxnId="{B5C05574-2368-46F1-BA84-9A48E660F658}">
      <dgm:prSet/>
      <dgm:spPr/>
      <dgm:t>
        <a:bodyPr/>
        <a:lstStyle/>
        <a:p>
          <a:endParaRPr lang="en-US"/>
        </a:p>
      </dgm:t>
    </dgm:pt>
    <dgm:pt modelId="{98A3C9B0-89D4-4AFF-A0D3-E955A7EFE0B8}">
      <dgm:prSet phldrT="[Text]" custT="1"/>
      <dgm:spPr/>
      <dgm:t>
        <a:bodyPr/>
        <a:lstStyle/>
        <a:p>
          <a:r>
            <a:rPr lang="en-US" sz="1400" dirty="0"/>
            <a:t>Multiple linear regression shows that area, overall quality, basement size, garage capacity, and year built/remodeled are all significant. R</a:t>
          </a:r>
          <a:r>
            <a:rPr lang="en-US" sz="1400" baseline="30000" dirty="0"/>
            <a:t>2</a:t>
          </a:r>
          <a:r>
            <a:rPr lang="en-US" sz="1400" dirty="0"/>
            <a:t> = 0.82, p-value &lt; 0.0001.</a:t>
          </a:r>
        </a:p>
      </dgm:t>
    </dgm:pt>
    <dgm:pt modelId="{482DEFBF-AAF2-46EE-A921-FAD6205A1DFC}" type="parTrans" cxnId="{9F99A478-9016-4756-A3F5-BA7A78281F64}">
      <dgm:prSet/>
      <dgm:spPr/>
      <dgm:t>
        <a:bodyPr/>
        <a:lstStyle/>
        <a:p>
          <a:endParaRPr lang="en-US"/>
        </a:p>
      </dgm:t>
    </dgm:pt>
    <dgm:pt modelId="{3EB4770E-47E6-4272-A068-B6369C203232}" type="sibTrans" cxnId="{9F99A478-9016-4756-A3F5-BA7A78281F64}">
      <dgm:prSet/>
      <dgm:spPr/>
      <dgm:t>
        <a:bodyPr/>
        <a:lstStyle/>
        <a:p>
          <a:endParaRPr lang="en-US"/>
        </a:p>
      </dgm:t>
    </dgm:pt>
    <dgm:pt modelId="{117CF0E1-9C9D-4D77-B26A-FD7FF79CFED8}">
      <dgm:prSet phldrT="[Text]" custT="1"/>
      <dgm:spPr/>
      <dgm:t>
        <a:bodyPr/>
        <a:lstStyle/>
        <a:p>
          <a:r>
            <a:rPr lang="en-US" sz="1400" dirty="0"/>
            <a:t>Reject H</a:t>
          </a:r>
          <a:r>
            <a:rPr lang="en-US" sz="1400" baseline="-25000" dirty="0"/>
            <a:t>0</a:t>
          </a:r>
          <a:r>
            <a:rPr lang="en-US" sz="1400" dirty="0"/>
            <a:t>: Neighborhood has a significant effect on price. </a:t>
          </a:r>
        </a:p>
      </dgm:t>
    </dgm:pt>
    <dgm:pt modelId="{B174221E-09CB-4A8C-858B-75F6096CEB19}" type="parTrans" cxnId="{96FC2A48-EAF5-4AF5-B85B-8058A5B88A62}">
      <dgm:prSet/>
      <dgm:spPr/>
      <dgm:t>
        <a:bodyPr/>
        <a:lstStyle/>
        <a:p>
          <a:endParaRPr lang="en-US"/>
        </a:p>
      </dgm:t>
    </dgm:pt>
    <dgm:pt modelId="{9D55ADDC-F6EF-41C8-9B67-304C16E5B2B2}" type="sibTrans" cxnId="{96FC2A48-EAF5-4AF5-B85B-8058A5B88A62}">
      <dgm:prSet/>
      <dgm:spPr/>
      <dgm:t>
        <a:bodyPr/>
        <a:lstStyle/>
        <a:p>
          <a:endParaRPr lang="en-US"/>
        </a:p>
      </dgm:t>
    </dgm:pt>
    <dgm:pt modelId="{047A9231-FEA5-4C3F-BFDE-873A8475D8DA}" type="pres">
      <dgm:prSet presAssocID="{797E628E-8337-4C9F-B89B-8D000D7C0DB7}" presName="Name0" presStyleCnt="0">
        <dgm:presLayoutVars>
          <dgm:dir/>
          <dgm:animLvl val="lvl"/>
          <dgm:resizeHandles val="exact"/>
        </dgm:presLayoutVars>
      </dgm:prSet>
      <dgm:spPr/>
    </dgm:pt>
    <dgm:pt modelId="{470B547C-766F-4E5D-818B-4865045E6A3E}" type="pres">
      <dgm:prSet presAssocID="{E83767D8-2895-4ABD-894B-EC976A742008}" presName="linNode" presStyleCnt="0"/>
      <dgm:spPr/>
    </dgm:pt>
    <dgm:pt modelId="{8EA2D4B1-872F-4A6C-A2E4-9DFABD26E638}" type="pres">
      <dgm:prSet presAssocID="{E83767D8-2895-4ABD-894B-EC976A742008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EA1670AB-7425-4AEF-B1E1-DA7AEA533258}" type="pres">
      <dgm:prSet presAssocID="{E83767D8-2895-4ABD-894B-EC976A742008}" presName="descendantText" presStyleLbl="alignAccFollowNode1" presStyleIdx="0" presStyleCnt="3">
        <dgm:presLayoutVars>
          <dgm:bulletEnabled val="1"/>
        </dgm:presLayoutVars>
      </dgm:prSet>
      <dgm:spPr/>
    </dgm:pt>
    <dgm:pt modelId="{12B0FA5F-8087-49C8-A14C-6A5CE65380A2}" type="pres">
      <dgm:prSet presAssocID="{3A15AC15-CC3C-4F81-9A4E-0F73B02BD9F8}" presName="sp" presStyleCnt="0"/>
      <dgm:spPr/>
    </dgm:pt>
    <dgm:pt modelId="{77C74C0D-E7DB-46A1-A00B-31F3D6DA0FA2}" type="pres">
      <dgm:prSet presAssocID="{000F0723-1053-47E4-9D88-C7E91D7178A5}" presName="linNode" presStyleCnt="0"/>
      <dgm:spPr/>
    </dgm:pt>
    <dgm:pt modelId="{D283D74A-BD2F-42BA-B4FD-867F840339ED}" type="pres">
      <dgm:prSet presAssocID="{000F0723-1053-47E4-9D88-C7E91D7178A5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46D7A852-7FC0-4C68-B8CE-1444D39B32D4}" type="pres">
      <dgm:prSet presAssocID="{000F0723-1053-47E4-9D88-C7E91D7178A5}" presName="descendantText" presStyleLbl="alignAccFollowNode1" presStyleIdx="1" presStyleCnt="3">
        <dgm:presLayoutVars>
          <dgm:bulletEnabled val="1"/>
        </dgm:presLayoutVars>
      </dgm:prSet>
      <dgm:spPr/>
    </dgm:pt>
    <dgm:pt modelId="{5F60B2F4-22B5-4259-AE85-217F4A5D84EC}" type="pres">
      <dgm:prSet presAssocID="{5CED87D0-E6CB-4393-87FA-9E9F97FA77C4}" presName="sp" presStyleCnt="0"/>
      <dgm:spPr/>
    </dgm:pt>
    <dgm:pt modelId="{6E783F54-D8F2-43B8-9082-EFFAD3BAAE17}" type="pres">
      <dgm:prSet presAssocID="{CCA791E0-481A-4FAD-9C7F-5D7FEA9E3CF1}" presName="linNode" presStyleCnt="0"/>
      <dgm:spPr/>
    </dgm:pt>
    <dgm:pt modelId="{CF2DB6D9-7B91-454D-9500-578764882F06}" type="pres">
      <dgm:prSet presAssocID="{CCA791E0-481A-4FAD-9C7F-5D7FEA9E3CF1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59D36307-9EA9-49F1-BC0E-29436E5A9C6F}" type="pres">
      <dgm:prSet presAssocID="{CCA791E0-481A-4FAD-9C7F-5D7FEA9E3CF1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DD1C8A0A-ACAD-479E-AADB-12789F9A0C83}" srcId="{E83767D8-2895-4ABD-894B-EC976A742008}" destId="{123F8DAB-1B95-40AE-9606-7EB54EEFD279}" srcOrd="2" destOrd="0" parTransId="{2B26C04D-A291-4E11-A2E2-C44E972393C5}" sibTransId="{7EB40AA4-9F1B-41F5-907D-A87EA263560B}"/>
    <dgm:cxn modelId="{521D2311-8949-4E73-88F3-4963A9DB7DFD}" type="presOf" srcId="{123F8DAB-1B95-40AE-9606-7EB54EEFD279}" destId="{EA1670AB-7425-4AEF-B1E1-DA7AEA533258}" srcOrd="0" destOrd="2" presId="urn:microsoft.com/office/officeart/2005/8/layout/vList5"/>
    <dgm:cxn modelId="{75874713-282D-4C5E-89B4-CB8FAC2DC92A}" type="presOf" srcId="{FC82B7E8-292F-4D82-887A-29CCFBAE1224}" destId="{59D36307-9EA9-49F1-BC0E-29436E5A9C6F}" srcOrd="0" destOrd="1" presId="urn:microsoft.com/office/officeart/2005/8/layout/vList5"/>
    <dgm:cxn modelId="{89CEF117-08D2-4D0A-B30F-0B605DECE5DF}" srcId="{797E628E-8337-4C9F-B89B-8D000D7C0DB7}" destId="{000F0723-1053-47E4-9D88-C7E91D7178A5}" srcOrd="1" destOrd="0" parTransId="{44F8C02A-6EF7-44EF-A4F6-0E65ECF5E2C2}" sibTransId="{5CED87D0-E6CB-4393-87FA-9E9F97FA77C4}"/>
    <dgm:cxn modelId="{552D391C-34A7-4590-A72D-A2611572079B}" type="presOf" srcId="{CCA791E0-481A-4FAD-9C7F-5D7FEA9E3CF1}" destId="{CF2DB6D9-7B91-454D-9500-578764882F06}" srcOrd="0" destOrd="0" presId="urn:microsoft.com/office/officeart/2005/8/layout/vList5"/>
    <dgm:cxn modelId="{F58F8221-3D63-42A4-8000-4BD22A97C0BE}" srcId="{000F0723-1053-47E4-9D88-C7E91D7178A5}" destId="{BB7E9AE6-19E7-4D96-BA37-D175C2983DE8}" srcOrd="3" destOrd="0" parTransId="{6A9EDF19-58C8-477F-9F42-07C178BCB0A9}" sibTransId="{92D03C16-F67B-4356-B906-4C58D1DA3188}"/>
    <dgm:cxn modelId="{141EEC24-9F07-4104-86C8-AFCC3931F8DD}" srcId="{CCA791E0-481A-4FAD-9C7F-5D7FEA9E3CF1}" destId="{12329CB2-047C-4AC1-9302-438D14B080B0}" srcOrd="2" destOrd="0" parTransId="{F112DDD6-92EB-49AB-B5AD-A860C5ED223E}" sibTransId="{1822D45F-F99C-4D0E-B9EF-144DC41FA732}"/>
    <dgm:cxn modelId="{0883BD37-592E-4570-B6E3-D8DF06F68297}" type="presOf" srcId="{98A3C9B0-89D4-4AFF-A0D3-E955A7EFE0B8}" destId="{EA1670AB-7425-4AEF-B1E1-DA7AEA533258}" srcOrd="0" destOrd="3" presId="urn:microsoft.com/office/officeart/2005/8/layout/vList5"/>
    <dgm:cxn modelId="{91788D40-62B2-425A-B9BE-37F3AE1C4855}" type="presOf" srcId="{000F0723-1053-47E4-9D88-C7E91D7178A5}" destId="{D283D74A-BD2F-42BA-B4FD-867F840339ED}" srcOrd="0" destOrd="0" presId="urn:microsoft.com/office/officeart/2005/8/layout/vList5"/>
    <dgm:cxn modelId="{6AFA5065-9D6F-436A-92D4-827B458092CB}" type="presOf" srcId="{B05E695B-ADE8-4953-A536-58303196D8B7}" destId="{EA1670AB-7425-4AEF-B1E1-DA7AEA533258}" srcOrd="0" destOrd="1" presId="urn:microsoft.com/office/officeart/2005/8/layout/vList5"/>
    <dgm:cxn modelId="{C4247D67-BFC8-4EC9-BBB4-D7209208A7BE}" srcId="{E83767D8-2895-4ABD-894B-EC976A742008}" destId="{2A0E556F-42AC-4AC7-85F9-2F0966730E3A}" srcOrd="0" destOrd="0" parTransId="{1A0D4245-2844-4A8B-AE9F-E8033865A985}" sibTransId="{37A3F530-3768-48C8-8240-1FEF5DBB1E91}"/>
    <dgm:cxn modelId="{96FC2A48-EAF5-4AF5-B85B-8058A5B88A62}" srcId="{000F0723-1053-47E4-9D88-C7E91D7178A5}" destId="{117CF0E1-9C9D-4D77-B26A-FD7FF79CFED8}" srcOrd="2" destOrd="0" parTransId="{B174221E-09CB-4A8C-858B-75F6096CEB19}" sibTransId="{9D55ADDC-F6EF-41C8-9B67-304C16E5B2B2}"/>
    <dgm:cxn modelId="{0EFA866C-32C2-420E-BA8E-3C6D497CCF1A}" type="presOf" srcId="{E592E30F-70AC-43A2-AC95-7B119F0A0CA0}" destId="{46D7A852-7FC0-4C68-B8CE-1444D39B32D4}" srcOrd="0" destOrd="0" presId="urn:microsoft.com/office/officeart/2005/8/layout/vList5"/>
    <dgm:cxn modelId="{C534EB6E-4173-482D-8CDC-6B693F52CD9E}" type="presOf" srcId="{12329CB2-047C-4AC1-9302-438D14B080B0}" destId="{59D36307-9EA9-49F1-BC0E-29436E5A9C6F}" srcOrd="0" destOrd="2" presId="urn:microsoft.com/office/officeart/2005/8/layout/vList5"/>
    <dgm:cxn modelId="{D1691A73-758E-4395-ADFA-B0FEDA39B10B}" srcId="{797E628E-8337-4C9F-B89B-8D000D7C0DB7}" destId="{E83767D8-2895-4ABD-894B-EC976A742008}" srcOrd="0" destOrd="0" parTransId="{BFCE0433-FE32-449E-AA76-E8230D3E6FD9}" sibTransId="{3A15AC15-CC3C-4F81-9A4E-0F73B02BD9F8}"/>
    <dgm:cxn modelId="{B5C05574-2368-46F1-BA84-9A48E660F658}" srcId="{797E628E-8337-4C9F-B89B-8D000D7C0DB7}" destId="{CCA791E0-481A-4FAD-9C7F-5D7FEA9E3CF1}" srcOrd="2" destOrd="0" parTransId="{E32356A5-6DD3-458A-A33E-F40900317DE5}" sibTransId="{E7A88A3A-B069-4A9C-8217-EFB7C201587B}"/>
    <dgm:cxn modelId="{8A3EAF56-995E-456E-9293-74C8B811A76D}" srcId="{000F0723-1053-47E4-9D88-C7E91D7178A5}" destId="{68F1642E-AC0A-4A9B-9C63-9C483611E24E}" srcOrd="1" destOrd="0" parTransId="{624E72D3-E042-41F8-A5FF-962907E4A5AB}" sibTransId="{3D5BE2AE-9AC8-49AA-AB89-3548ECD74233}"/>
    <dgm:cxn modelId="{9F99A478-9016-4756-A3F5-BA7A78281F64}" srcId="{E83767D8-2895-4ABD-894B-EC976A742008}" destId="{98A3C9B0-89D4-4AFF-A0D3-E955A7EFE0B8}" srcOrd="3" destOrd="0" parTransId="{482DEFBF-AAF2-46EE-A921-FAD6205A1DFC}" sibTransId="{3EB4770E-47E6-4272-A068-B6369C203232}"/>
    <dgm:cxn modelId="{46525789-06A1-4FE5-B240-02408FEB9AC1}" type="presOf" srcId="{797E628E-8337-4C9F-B89B-8D000D7C0DB7}" destId="{047A9231-FEA5-4C3F-BFDE-873A8475D8DA}" srcOrd="0" destOrd="0" presId="urn:microsoft.com/office/officeart/2005/8/layout/vList5"/>
    <dgm:cxn modelId="{67D008A3-21C0-4BDD-8078-5520E551AC82}" type="presOf" srcId="{2A0E556F-42AC-4AC7-85F9-2F0966730E3A}" destId="{EA1670AB-7425-4AEF-B1E1-DA7AEA533258}" srcOrd="0" destOrd="0" presId="urn:microsoft.com/office/officeart/2005/8/layout/vList5"/>
    <dgm:cxn modelId="{731F45A9-E01D-491E-A387-A331501E7B5F}" type="presOf" srcId="{19E6BCF4-24AF-4AC2-ADB9-1DEB4FE880E3}" destId="{59D36307-9EA9-49F1-BC0E-29436E5A9C6F}" srcOrd="0" destOrd="0" presId="urn:microsoft.com/office/officeart/2005/8/layout/vList5"/>
    <dgm:cxn modelId="{8BA211AA-A125-45F2-8E06-FA8E8C7ED9D6}" srcId="{000F0723-1053-47E4-9D88-C7E91D7178A5}" destId="{E592E30F-70AC-43A2-AC95-7B119F0A0CA0}" srcOrd="0" destOrd="0" parTransId="{415B5129-5368-4FCF-ADA2-F2DEC41ECF47}" sibTransId="{40E0A695-1259-4E70-8B85-1F8C02688004}"/>
    <dgm:cxn modelId="{598169B0-8190-4093-9866-055CDF852837}" type="presOf" srcId="{117CF0E1-9C9D-4D77-B26A-FD7FF79CFED8}" destId="{46D7A852-7FC0-4C68-B8CE-1444D39B32D4}" srcOrd="0" destOrd="2" presId="urn:microsoft.com/office/officeart/2005/8/layout/vList5"/>
    <dgm:cxn modelId="{43C1BCBD-EA5E-41FF-9BAA-3D3593C9ACC3}" srcId="{CCA791E0-481A-4FAD-9C7F-5D7FEA9E3CF1}" destId="{19E6BCF4-24AF-4AC2-ADB9-1DEB4FE880E3}" srcOrd="0" destOrd="0" parTransId="{23DEE696-87CD-42C3-8680-49AE844A5FCA}" sibTransId="{E157FFB2-0B94-4978-AEB5-796ACF6099EE}"/>
    <dgm:cxn modelId="{B47396C6-2611-4A08-8878-1427B8C45B03}" type="presOf" srcId="{E83767D8-2895-4ABD-894B-EC976A742008}" destId="{8EA2D4B1-872F-4A6C-A2E4-9DFABD26E638}" srcOrd="0" destOrd="0" presId="urn:microsoft.com/office/officeart/2005/8/layout/vList5"/>
    <dgm:cxn modelId="{7E4D25DF-BC37-4D27-AA77-11F663E739F3}" srcId="{CCA791E0-481A-4FAD-9C7F-5D7FEA9E3CF1}" destId="{FC82B7E8-292F-4D82-887A-29CCFBAE1224}" srcOrd="1" destOrd="0" parTransId="{3E8E9AB7-317C-45C1-A894-2664A9251C0F}" sibTransId="{7FB96AAC-0EEB-4AA3-8C3C-F4BBCEA79E7D}"/>
    <dgm:cxn modelId="{F58F75E3-EFA8-4605-BF54-A57EF0D404DF}" srcId="{E83767D8-2895-4ABD-894B-EC976A742008}" destId="{B05E695B-ADE8-4953-A536-58303196D8B7}" srcOrd="1" destOrd="0" parTransId="{FBBB5610-6608-4BEF-9864-F345886A5613}" sibTransId="{B7E27736-9842-4623-9BDC-AC44AA36BBEF}"/>
    <dgm:cxn modelId="{27D12FEF-510A-4335-B227-D3FC312B204B}" type="presOf" srcId="{BB7E9AE6-19E7-4D96-BA37-D175C2983DE8}" destId="{46D7A852-7FC0-4C68-B8CE-1444D39B32D4}" srcOrd="0" destOrd="3" presId="urn:microsoft.com/office/officeart/2005/8/layout/vList5"/>
    <dgm:cxn modelId="{F6C657FB-6B3D-4BCA-951E-8B3C1BF422CB}" type="presOf" srcId="{68F1642E-AC0A-4A9B-9C63-9C483611E24E}" destId="{46D7A852-7FC0-4C68-B8CE-1444D39B32D4}" srcOrd="0" destOrd="1" presId="urn:microsoft.com/office/officeart/2005/8/layout/vList5"/>
    <dgm:cxn modelId="{E2FC484B-684D-4373-BEFD-5F9825036565}" type="presParOf" srcId="{047A9231-FEA5-4C3F-BFDE-873A8475D8DA}" destId="{470B547C-766F-4E5D-818B-4865045E6A3E}" srcOrd="0" destOrd="0" presId="urn:microsoft.com/office/officeart/2005/8/layout/vList5"/>
    <dgm:cxn modelId="{82F04056-EC2A-4AC0-8EC3-FC2697C11411}" type="presParOf" srcId="{470B547C-766F-4E5D-818B-4865045E6A3E}" destId="{8EA2D4B1-872F-4A6C-A2E4-9DFABD26E638}" srcOrd="0" destOrd="0" presId="urn:microsoft.com/office/officeart/2005/8/layout/vList5"/>
    <dgm:cxn modelId="{2D24A5FC-958E-4624-8A82-1C34BC0CDFFA}" type="presParOf" srcId="{470B547C-766F-4E5D-818B-4865045E6A3E}" destId="{EA1670AB-7425-4AEF-B1E1-DA7AEA533258}" srcOrd="1" destOrd="0" presId="urn:microsoft.com/office/officeart/2005/8/layout/vList5"/>
    <dgm:cxn modelId="{742C3CE7-440B-40EF-AFE2-C808847F31A1}" type="presParOf" srcId="{047A9231-FEA5-4C3F-BFDE-873A8475D8DA}" destId="{12B0FA5F-8087-49C8-A14C-6A5CE65380A2}" srcOrd="1" destOrd="0" presId="urn:microsoft.com/office/officeart/2005/8/layout/vList5"/>
    <dgm:cxn modelId="{6309D1E8-49BE-4BC9-82DD-11E8F5201FB6}" type="presParOf" srcId="{047A9231-FEA5-4C3F-BFDE-873A8475D8DA}" destId="{77C74C0D-E7DB-46A1-A00B-31F3D6DA0FA2}" srcOrd="2" destOrd="0" presId="urn:microsoft.com/office/officeart/2005/8/layout/vList5"/>
    <dgm:cxn modelId="{7AF1016F-975D-4DCC-AFAC-3F9962D7572D}" type="presParOf" srcId="{77C74C0D-E7DB-46A1-A00B-31F3D6DA0FA2}" destId="{D283D74A-BD2F-42BA-B4FD-867F840339ED}" srcOrd="0" destOrd="0" presId="urn:microsoft.com/office/officeart/2005/8/layout/vList5"/>
    <dgm:cxn modelId="{D272DB10-239F-4959-A6C8-E7C529A8974C}" type="presParOf" srcId="{77C74C0D-E7DB-46A1-A00B-31F3D6DA0FA2}" destId="{46D7A852-7FC0-4C68-B8CE-1444D39B32D4}" srcOrd="1" destOrd="0" presId="urn:microsoft.com/office/officeart/2005/8/layout/vList5"/>
    <dgm:cxn modelId="{2812D467-0322-4C1C-B3D6-606F51CDE456}" type="presParOf" srcId="{047A9231-FEA5-4C3F-BFDE-873A8475D8DA}" destId="{5F60B2F4-22B5-4259-AE85-217F4A5D84EC}" srcOrd="3" destOrd="0" presId="urn:microsoft.com/office/officeart/2005/8/layout/vList5"/>
    <dgm:cxn modelId="{30BFAECF-D310-403C-9B49-DE56AC0DDCFA}" type="presParOf" srcId="{047A9231-FEA5-4C3F-BFDE-873A8475D8DA}" destId="{6E783F54-D8F2-43B8-9082-EFFAD3BAAE17}" srcOrd="4" destOrd="0" presId="urn:microsoft.com/office/officeart/2005/8/layout/vList5"/>
    <dgm:cxn modelId="{D5E2DC32-EC55-4D8B-ADCD-DD94597E5471}" type="presParOf" srcId="{6E783F54-D8F2-43B8-9082-EFFAD3BAAE17}" destId="{CF2DB6D9-7B91-454D-9500-578764882F06}" srcOrd="0" destOrd="0" presId="urn:microsoft.com/office/officeart/2005/8/layout/vList5"/>
    <dgm:cxn modelId="{44E48E22-40FF-4F2C-AA19-527158EC1B60}" type="presParOf" srcId="{6E783F54-D8F2-43B8-9082-EFFAD3BAAE17}" destId="{59D36307-9EA9-49F1-BC0E-29436E5A9C6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1670AB-7425-4AEF-B1E1-DA7AEA533258}">
      <dsp:nvSpPr>
        <dsp:cNvPr id="0" name=""/>
        <dsp:cNvSpPr/>
      </dsp:nvSpPr>
      <dsp:spPr>
        <a:xfrm rot="5400000">
          <a:off x="5388192" y="-1988555"/>
          <a:ext cx="1397000" cy="572865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b="1" kern="1200" dirty="0"/>
            <a:t>What physical attributes of a home most strongly predict its sale price?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H</a:t>
          </a:r>
          <a:r>
            <a:rPr lang="en-US" sz="1400" kern="1200" baseline="-25000" dirty="0"/>
            <a:t>0</a:t>
          </a:r>
          <a:r>
            <a:rPr lang="en-US" sz="1400" kern="1200" dirty="0"/>
            <a:t>: All regression coefficients = 0.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H</a:t>
          </a:r>
          <a:r>
            <a:rPr lang="en-US" sz="1400" kern="1200" baseline="-25000" dirty="0"/>
            <a:t>1</a:t>
          </a:r>
          <a:r>
            <a:rPr lang="en-US" sz="1400" kern="1200" dirty="0"/>
            <a:t>: At least one regression coefficient </a:t>
          </a: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≠</a:t>
          </a:r>
          <a:r>
            <a:rPr lang="en-US" sz="1400" kern="1200" dirty="0"/>
            <a:t> 0.</a:t>
          </a:r>
        </a:p>
      </dsp:txBody>
      <dsp:txXfrm rot="-5400000">
        <a:off x="3222366" y="245467"/>
        <a:ext cx="5660456" cy="1260608"/>
      </dsp:txXfrm>
    </dsp:sp>
    <dsp:sp modelId="{8EA2D4B1-872F-4A6C-A2E4-9DFABD26E638}">
      <dsp:nvSpPr>
        <dsp:cNvPr id="0" name=""/>
        <dsp:cNvSpPr/>
      </dsp:nvSpPr>
      <dsp:spPr>
        <a:xfrm>
          <a:off x="0" y="2645"/>
          <a:ext cx="3222366" cy="17462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Research Question 1</a:t>
          </a:r>
        </a:p>
      </dsp:txBody>
      <dsp:txXfrm>
        <a:off x="85245" y="87890"/>
        <a:ext cx="3051876" cy="1575760"/>
      </dsp:txXfrm>
    </dsp:sp>
    <dsp:sp modelId="{46D7A852-7FC0-4C68-B8CE-1444D39B32D4}">
      <dsp:nvSpPr>
        <dsp:cNvPr id="0" name=""/>
        <dsp:cNvSpPr/>
      </dsp:nvSpPr>
      <dsp:spPr>
        <a:xfrm rot="5400000">
          <a:off x="5388192" y="-154992"/>
          <a:ext cx="1397000" cy="572865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b="1" kern="1200" dirty="0"/>
            <a:t>Does neighborhood significantly affect home sale prices with house size, quality, and other impactful variables controlled?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H</a:t>
          </a:r>
          <a:r>
            <a:rPr lang="en-US" sz="1400" kern="1200" baseline="-25000" dirty="0"/>
            <a:t>0</a:t>
          </a:r>
          <a:r>
            <a:rPr lang="en-US" sz="1400" kern="1200" dirty="0"/>
            <a:t>: Neighborhood has no effect on price after controlling for physical features.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H</a:t>
          </a:r>
          <a:r>
            <a:rPr lang="en-US" sz="1400" kern="1200" baseline="-25000" dirty="0"/>
            <a:t>1</a:t>
          </a:r>
          <a:r>
            <a:rPr lang="en-US" sz="1400" kern="1200" dirty="0"/>
            <a:t>: Neighborhood has a significant effect on price after controlling for physical features.</a:t>
          </a:r>
        </a:p>
      </dsp:txBody>
      <dsp:txXfrm rot="-5400000">
        <a:off x="3222366" y="2079030"/>
        <a:ext cx="5660456" cy="1260608"/>
      </dsp:txXfrm>
    </dsp:sp>
    <dsp:sp modelId="{D283D74A-BD2F-42BA-B4FD-867F840339ED}">
      <dsp:nvSpPr>
        <dsp:cNvPr id="0" name=""/>
        <dsp:cNvSpPr/>
      </dsp:nvSpPr>
      <dsp:spPr>
        <a:xfrm>
          <a:off x="0" y="1836208"/>
          <a:ext cx="3222366" cy="17462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Research Question 2</a:t>
          </a:r>
        </a:p>
      </dsp:txBody>
      <dsp:txXfrm>
        <a:off x="85245" y="1921453"/>
        <a:ext cx="3051876" cy="1575760"/>
      </dsp:txXfrm>
    </dsp:sp>
    <dsp:sp modelId="{59D36307-9EA9-49F1-BC0E-29436E5A9C6F}">
      <dsp:nvSpPr>
        <dsp:cNvPr id="0" name=""/>
        <dsp:cNvSpPr/>
      </dsp:nvSpPr>
      <dsp:spPr>
        <a:xfrm rot="5400000">
          <a:off x="5388192" y="1678570"/>
          <a:ext cx="1397000" cy="572865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b="1" kern="1200" dirty="0"/>
            <a:t>Can it be predicted whether a house will sell above the median price based on its features?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H</a:t>
          </a:r>
          <a:r>
            <a:rPr lang="en-US" sz="1400" kern="1200" baseline="-25000" dirty="0"/>
            <a:t>0</a:t>
          </a:r>
          <a:r>
            <a:rPr lang="en-US" sz="1400" kern="1200" dirty="0"/>
            <a:t>: Model classification accuracy = 0.5.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H</a:t>
          </a:r>
          <a:r>
            <a:rPr lang="en-US" sz="1400" kern="1200" baseline="-25000" dirty="0"/>
            <a:t>1</a:t>
          </a:r>
          <a:r>
            <a:rPr lang="en-US" sz="1400" kern="1200" dirty="0"/>
            <a:t>: Model accuracy &gt; 0.5 - better than random chance.</a:t>
          </a:r>
        </a:p>
      </dsp:txBody>
      <dsp:txXfrm rot="-5400000">
        <a:off x="3222366" y="3912592"/>
        <a:ext cx="5660456" cy="1260608"/>
      </dsp:txXfrm>
    </dsp:sp>
    <dsp:sp modelId="{CF2DB6D9-7B91-454D-9500-578764882F06}">
      <dsp:nvSpPr>
        <dsp:cNvPr id="0" name=""/>
        <dsp:cNvSpPr/>
      </dsp:nvSpPr>
      <dsp:spPr>
        <a:xfrm>
          <a:off x="0" y="3669771"/>
          <a:ext cx="3222366" cy="17462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Research Question 3</a:t>
          </a:r>
        </a:p>
      </dsp:txBody>
      <dsp:txXfrm>
        <a:off x="85245" y="3755016"/>
        <a:ext cx="3051876" cy="15757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1670AB-7425-4AEF-B1E1-DA7AEA533258}">
      <dsp:nvSpPr>
        <dsp:cNvPr id="0" name=""/>
        <dsp:cNvSpPr/>
      </dsp:nvSpPr>
      <dsp:spPr>
        <a:xfrm rot="5400000">
          <a:off x="7107672" y="-2797722"/>
          <a:ext cx="1397000" cy="73469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b="1" kern="1200" dirty="0"/>
            <a:t>What physical attributes of a home most strongly predict its sale price?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Reject H</a:t>
          </a:r>
          <a:r>
            <a:rPr lang="en-US" sz="1400" kern="1200" baseline="-25000" dirty="0"/>
            <a:t>0</a:t>
          </a:r>
          <a:r>
            <a:rPr lang="en-US" sz="1400" kern="1200" dirty="0"/>
            <a:t>. Physical features drive price variance.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Multiple linear regression shows that area, overall quality, basement size, garage capacity, and year built/remodeled are all significant. R</a:t>
          </a:r>
          <a:r>
            <a:rPr lang="en-US" sz="1400" kern="1200" baseline="30000" dirty="0"/>
            <a:t>2</a:t>
          </a:r>
          <a:r>
            <a:rPr lang="en-US" sz="1400" kern="1200" dirty="0"/>
            <a:t> = 0.82, p-value &lt; 0.0001.</a:t>
          </a:r>
        </a:p>
      </dsp:txBody>
      <dsp:txXfrm rot="-5400000">
        <a:off x="4132679" y="245467"/>
        <a:ext cx="7278790" cy="1260608"/>
      </dsp:txXfrm>
    </dsp:sp>
    <dsp:sp modelId="{8EA2D4B1-872F-4A6C-A2E4-9DFABD26E638}">
      <dsp:nvSpPr>
        <dsp:cNvPr id="0" name=""/>
        <dsp:cNvSpPr/>
      </dsp:nvSpPr>
      <dsp:spPr>
        <a:xfrm>
          <a:off x="0" y="2645"/>
          <a:ext cx="4132679" cy="17462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Research Question 1</a:t>
          </a:r>
        </a:p>
      </dsp:txBody>
      <dsp:txXfrm>
        <a:off x="85245" y="87890"/>
        <a:ext cx="3962189" cy="1575760"/>
      </dsp:txXfrm>
    </dsp:sp>
    <dsp:sp modelId="{46D7A852-7FC0-4C68-B8CE-1444D39B32D4}">
      <dsp:nvSpPr>
        <dsp:cNvPr id="0" name=""/>
        <dsp:cNvSpPr/>
      </dsp:nvSpPr>
      <dsp:spPr>
        <a:xfrm rot="5400000">
          <a:off x="7107672" y="-964159"/>
          <a:ext cx="1397000" cy="73469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b="1" kern="1200" dirty="0"/>
            <a:t>Does neighborhood significantly affect home sale prices with house size, quality, and other impactful variables controlled?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Reject H</a:t>
          </a:r>
          <a:r>
            <a:rPr lang="en-US" sz="1400" kern="1200" baseline="-25000" dirty="0"/>
            <a:t>0</a:t>
          </a:r>
          <a:r>
            <a:rPr lang="en-US" sz="1400" kern="1200" dirty="0"/>
            <a:t>: Neighborhood has a significant effect on price.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Neighborhood significantly affects price with F = 3.01 and p-value = 0.000029.</a:t>
          </a:r>
        </a:p>
      </dsp:txBody>
      <dsp:txXfrm rot="-5400000">
        <a:off x="4132679" y="2079030"/>
        <a:ext cx="7278790" cy="1260608"/>
      </dsp:txXfrm>
    </dsp:sp>
    <dsp:sp modelId="{D283D74A-BD2F-42BA-B4FD-867F840339ED}">
      <dsp:nvSpPr>
        <dsp:cNvPr id="0" name=""/>
        <dsp:cNvSpPr/>
      </dsp:nvSpPr>
      <dsp:spPr>
        <a:xfrm>
          <a:off x="0" y="1836208"/>
          <a:ext cx="4132679" cy="17462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Research Question 2</a:t>
          </a:r>
        </a:p>
      </dsp:txBody>
      <dsp:txXfrm>
        <a:off x="85245" y="1921453"/>
        <a:ext cx="3962189" cy="1575760"/>
      </dsp:txXfrm>
    </dsp:sp>
    <dsp:sp modelId="{59D36307-9EA9-49F1-BC0E-29436E5A9C6F}">
      <dsp:nvSpPr>
        <dsp:cNvPr id="0" name=""/>
        <dsp:cNvSpPr/>
      </dsp:nvSpPr>
      <dsp:spPr>
        <a:xfrm rot="5400000">
          <a:off x="7107672" y="869402"/>
          <a:ext cx="1397000" cy="73469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b="1" kern="1200" dirty="0"/>
            <a:t>Can it be predicted whether a house will sell above the median price based on its features?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Reject H</a:t>
          </a:r>
          <a:r>
            <a:rPr lang="en-US" sz="1400" kern="1200" baseline="-25000" dirty="0"/>
            <a:t>0</a:t>
          </a:r>
          <a:r>
            <a:rPr lang="en-US" sz="1400" kern="1200" dirty="0"/>
            <a:t>. Logistic regression can accurately predict whether a home will sell above or below median price based on its features with a  90.25% accuracy. Z = 16.1, p &lt; 0.0001. </a:t>
          </a:r>
        </a:p>
      </dsp:txBody>
      <dsp:txXfrm rot="-5400000">
        <a:off x="4132679" y="3912591"/>
        <a:ext cx="7278790" cy="1260608"/>
      </dsp:txXfrm>
    </dsp:sp>
    <dsp:sp modelId="{CF2DB6D9-7B91-454D-9500-578764882F06}">
      <dsp:nvSpPr>
        <dsp:cNvPr id="0" name=""/>
        <dsp:cNvSpPr/>
      </dsp:nvSpPr>
      <dsp:spPr>
        <a:xfrm>
          <a:off x="0" y="3669771"/>
          <a:ext cx="4132679" cy="17462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Research Question 3</a:t>
          </a:r>
        </a:p>
      </dsp:txBody>
      <dsp:txXfrm>
        <a:off x="85245" y="3755016"/>
        <a:ext cx="3962189" cy="15757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0A8AD5-26A2-4404-9B1A-323ED984042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039A8B-4892-4771-84FB-579CE232F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679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The higher mean relative to the median confirms the right skewness. </a:t>
            </a:r>
          </a:p>
          <a:p>
            <a:r>
              <a:rPr lang="en-US" sz="1200" b="1" dirty="0"/>
              <a:t>Figure (Left): </a:t>
            </a:r>
            <a:r>
              <a:rPr lang="en-US" sz="1200" dirty="0"/>
              <a:t>Histogram of sale prices in the dataset showing price distribution that is right skewed (1.70).</a:t>
            </a:r>
          </a:p>
          <a:p>
            <a:r>
              <a:rPr lang="en-US" sz="1200" b="1" dirty="0"/>
              <a:t>Figure (Right</a:t>
            </a:r>
            <a:r>
              <a:rPr lang="en-US" sz="1200" dirty="0"/>
              <a:t>): Natural log transformation of the data which results in a closer to normal distribution.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39A8B-4892-4771-84FB-579CE232F1D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095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476AF-540A-5416-B89E-975B07D24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3723B-DC65-8FD9-F53A-9497568A9B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F99CAE-83FD-D8EE-0EE1-CDB3A8B56C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Useful visual in feature selection and helped to ensure the regression model captured distinct features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C383D-87C5-B415-9877-6FAC75174A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39A8B-4892-4771-84FB-579CE232F1D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701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FDDBD-1B24-7B15-BA97-53B4BB559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80A656-89B7-FDB6-DD33-D96BBEFD9F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2536B3-6D05-0086-BDC0-83E1D777C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B5C0D-5D2A-DD0C-2B88-F343B9D4FC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39A8B-4892-4771-84FB-579CE232F1D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086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104DB-9EAF-67D1-270C-588037ABF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264FC5-BADA-5DC9-D7CA-0B49764A61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4604D2-1509-F9B6-F869-CB2EA6319E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EC641-C540-598A-5E5E-16D8B2BF89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39A8B-4892-4771-84FB-579CE232F1D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666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EEBB2-339E-6450-9BAD-A5B69BB47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90219C-E57C-0AE8-A9A3-EF524C2B6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8C4E13-0712-1C7E-F935-7787DB70DB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FD713-B2A3-A3E5-F8C5-D4F4D231EE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39A8B-4892-4771-84FB-579CE232F1D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57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DB543-BE2C-35C9-2FBE-172955846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76791D-1916-356B-4C29-F84DBD36D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6D614B-7B62-B54D-B491-C219C4D74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C2C33-4B9D-2EFD-A61A-CD41B6B57A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39A8B-4892-4771-84FB-579CE232F1D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3407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075A0-BB30-FF07-DD7A-3D6B080AE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402D61-9F15-D06A-A3A4-0DC6C89AF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B32F11-31C4-CD46-579D-9BE211BD8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F6277-D04B-610D-33C0-8D3C1B5A3E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39A8B-4892-4771-84FB-579CE232F1D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9171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F1527-4A89-BBEF-0F7D-FAA9568A4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398AD3-EF5B-EC62-6F1D-49C5CD8A7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5F1BA4-38DC-B4BA-8F71-EFF00E068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33E07-9C5E-71B8-EDE1-D71C533AD0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39A8B-4892-4771-84FB-579CE232F1D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23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79356-5B2C-31E7-95E9-3832991F21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E462E9-5B10-973F-4088-D5FD61A69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61000-3FFA-1ADB-4D2F-0F1AD8E38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2B183-B5D1-4906-B65E-9E424D50EA7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7BF83-E356-4157-8715-B13994475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2EE09-8415-7DE5-17B2-D81C69D9D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35C-F071-41B9-9AC4-E1CFB0640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900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5504E-1B23-B4E8-4721-E066B9ECA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878C9-AD08-D97A-472A-427B59FE9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8E216-AFBE-8BE2-0A04-12C316FED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2B183-B5D1-4906-B65E-9E424D50EA7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CDB97-77E0-442B-BBEB-D062FC2E0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58792-8FED-32CF-FF3C-1D5D820A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35C-F071-41B9-9AC4-E1CFB0640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740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A9A79-8C50-871C-F532-69BA00DB5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051A08-DE24-0F7D-860D-A9D5FD348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CE4A2-F104-21FE-39BF-DA88CE367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2B183-B5D1-4906-B65E-9E424D50EA7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8FFF1-8DEF-BDFE-BF9E-82DC231F0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4B0E8-0C11-4E62-393D-3731D713F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35C-F071-41B9-9AC4-E1CFB0640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140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743F-83C3-4AFC-BB18-3E7E544BD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BCC24-F635-771E-FA29-0C7ABA8215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15D482-BC23-77AA-6143-8750FE349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FECB0E-11DD-0EDC-7BC3-10A9C46C4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2B183-B5D1-4906-B65E-9E424D50EA7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3DD80-DB42-6F95-A176-7ACC5AD4B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E3FDA-C5CB-0766-B90D-FFF4ECF1C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35C-F071-41B9-9AC4-E1CFB0640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28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2AE3F-A3C0-5B35-1B22-64F577465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10100-2FAB-AA90-57C3-A60C9C751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97EDB-0542-1F2A-CAE5-F089B597C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C2DCAA-1A64-FF8C-FC86-1ACE51108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31ADCB-946D-5882-DED6-5A3813EE2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87DE28-99A1-987F-12E9-56ED930BD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2B183-B5D1-4906-B65E-9E424D50EA7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9E4E03-DC7F-A5D1-73E9-C9922C942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281A84-7C43-BA1A-D32B-AB927D023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35C-F071-41B9-9AC4-E1CFB0640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70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1A4D7-80CB-19D9-FA18-421A7986A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DF28C7-6EEC-A8CA-D919-B342684E4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2B183-B5D1-4906-B65E-9E424D50EA7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AB32D1-41D1-E800-9C84-1740B7BDE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C0CE-D0F0-BE19-B4D1-539934056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35C-F071-41B9-9AC4-E1CFB0640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90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CEC66D-8A59-F2CE-AB4F-53F1AB177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2B183-B5D1-4906-B65E-9E424D50EA7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701D39-2E62-F329-162B-CBD49291E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3AFC2-6C2D-02E3-C534-463099FE7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35C-F071-41B9-9AC4-E1CFB0640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568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ACFEF-6BDC-69AD-8609-5119FDE1D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2EB61-7B3B-B03B-2586-E457022D0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97C8A6-A38E-0902-5CE9-4ADF8B39D8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CDD330-0483-C5AF-0F53-6E7FB62BC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2B183-B5D1-4906-B65E-9E424D50EA7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56D387-ECAF-1A2C-198A-2F8BEC1BB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B5FB2A-A52C-5895-6983-5F079FDD7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35C-F071-41B9-9AC4-E1CFB0640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866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1FC5E-DA5F-8BE6-5FCC-510E7CD18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84C678-7F84-CD63-3DA3-E348074A3A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70EB79-0952-45DA-14A0-16701AE1E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1678D-7861-9A58-083A-16FDB74EE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2B183-B5D1-4906-B65E-9E424D50EA7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5BD77-DD5A-4601-0A10-F118831B9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EDE59-9D92-01A9-9772-0FE572CD5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35C-F071-41B9-9AC4-E1CFB0640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412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4F115-03AE-1A81-6E2D-706E0513A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669DFF-39BC-00F2-A3ED-F5406C2E3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9347E-1CD9-073C-07EF-D80311AEB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2B183-B5D1-4906-B65E-9E424D50EA7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B7FC2-C238-3E50-9EB2-A2304F04F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DE1E5-06B1-3DD9-0A84-8B6E20F42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35C-F071-41B9-9AC4-E1CFB0640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395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158AD7-2FB6-431C-72D0-73C087B7FC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0DC97-1094-4375-17ED-AE564074D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C9625-5B97-A220-2EC9-4F3B67981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2B183-B5D1-4906-B65E-9E424D50EA7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6B7AE-5274-24BD-7D7A-43F2E5BDB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18702-DED4-5E20-3E0B-8167BD4BB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35C-F071-41B9-9AC4-E1CFB0640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635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7F6C0A-AE5F-3AC1-61B8-6F3C95205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A49C0-2F75-8BCA-A4FB-BC096E481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E57D8-974B-46E7-6113-F93B27D67D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F2B183-B5D1-4906-B65E-9E424D50EA7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042D3-D57B-58CC-FE58-8FB169D1E5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0B436-CBC4-3960-85EF-CBD99B04F9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8F535C-F071-41B9-9AC4-E1CFB0640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018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penintro.org/data/index.php?data=ame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12" Type="http://schemas.openxmlformats.org/officeDocument/2006/relationships/image" Target="../media/image7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6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5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12" Type="http://schemas.openxmlformats.org/officeDocument/2006/relationships/image" Target="../media/image7.sv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openxmlformats.org/officeDocument/2006/relationships/image" Target="../media/image6.png"/><Relationship Id="rId5" Type="http://schemas.openxmlformats.org/officeDocument/2006/relationships/diagramColors" Target="../diagrams/colors2.xml"/><Relationship Id="rId10" Type="http://schemas.openxmlformats.org/officeDocument/2006/relationships/image" Target="../media/image5.sv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jmlr.csail.mit.edu/papers/v12/pedregosa11a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21105/joss.03021" TargetMode="External"/><Relationship Id="rId5" Type="http://schemas.openxmlformats.org/officeDocument/2006/relationships/hyperlink" Target="https://doi.org/10.1109/MCSE.2007.55" TargetMode="External"/><Relationship Id="rId4" Type="http://schemas.openxmlformats.org/officeDocument/2006/relationships/hyperlink" Target="https://doi.org/10.1038/s41586-020-2649-2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000">
              <a:schemeClr val="accent1">
                <a:lumMod val="5000"/>
                <a:lumOff val="95000"/>
              </a:schemeClr>
            </a:gs>
            <a:gs pos="22000">
              <a:schemeClr val="tx2">
                <a:lumMod val="10000"/>
                <a:lumOff val="90000"/>
              </a:schemeClr>
            </a:gs>
            <a:gs pos="10000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B9E287-8981-C961-E6E8-EE27D54E32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Statistical Analysis and Predictive Modeling of the Ames Housing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0F7C81-18D8-0222-066D-D0DA086ADA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000" dirty="0"/>
              <a:t>Stephen Codoluto</a:t>
            </a:r>
          </a:p>
          <a:p>
            <a:pPr algn="l"/>
            <a:r>
              <a:rPr lang="en-US" sz="2000" dirty="0"/>
              <a:t>Purdue University - MSDS GRAD50500</a:t>
            </a:r>
          </a:p>
          <a:p>
            <a:pPr algn="l"/>
            <a:r>
              <a:rPr lang="en-US" sz="2000" dirty="0"/>
              <a:t>February 2026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06409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000">
              <a:schemeClr val="accent1">
                <a:lumMod val="5000"/>
                <a:lumOff val="95000"/>
              </a:schemeClr>
            </a:gs>
            <a:gs pos="22000">
              <a:schemeClr val="tx2">
                <a:lumMod val="10000"/>
                <a:lumOff val="90000"/>
              </a:schemeClr>
            </a:gs>
            <a:gs pos="10000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C11CFF-794B-6DAC-7629-651FC8C26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5F538A-D223-EADB-A41C-FDAC2EA63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F4128-FF41-BD4B-4569-A8AC26D8A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547" y="2575387"/>
            <a:ext cx="4646905" cy="4333698"/>
          </a:xfrm>
        </p:spPr>
        <p:txBody>
          <a:bodyPr anchor="ctr">
            <a:normAutofit fontScale="92500" lnSpcReduction="20000"/>
          </a:bodyPr>
          <a:lstStyle/>
          <a:p>
            <a:r>
              <a:rPr lang="en-US" sz="1800" dirty="0"/>
              <a:t>Introduction and Project Overview</a:t>
            </a:r>
          </a:p>
          <a:p>
            <a:endParaRPr lang="en-US" sz="1800" dirty="0"/>
          </a:p>
          <a:p>
            <a:r>
              <a:rPr lang="en-US" sz="1800" dirty="0"/>
              <a:t>Research Questions and Hypothesis</a:t>
            </a:r>
          </a:p>
          <a:p>
            <a:endParaRPr lang="en-US" sz="1800" dirty="0"/>
          </a:p>
          <a:p>
            <a:r>
              <a:rPr lang="en-US" sz="1800" dirty="0"/>
              <a:t>Analysis</a:t>
            </a:r>
          </a:p>
          <a:p>
            <a:pPr lvl="1"/>
            <a:r>
              <a:rPr lang="en-US" sz="1800" dirty="0"/>
              <a:t>Exploratory Data Analysis</a:t>
            </a:r>
          </a:p>
          <a:p>
            <a:pPr lvl="1"/>
            <a:r>
              <a:rPr lang="en-US" sz="1800" dirty="0"/>
              <a:t>Research Question 1</a:t>
            </a:r>
          </a:p>
          <a:p>
            <a:pPr lvl="1"/>
            <a:r>
              <a:rPr lang="en-US" sz="1800" dirty="0"/>
              <a:t>Research Question 2</a:t>
            </a:r>
          </a:p>
          <a:p>
            <a:pPr lvl="1"/>
            <a:r>
              <a:rPr lang="en-US" sz="1800" dirty="0"/>
              <a:t>Research Question 3</a:t>
            </a:r>
          </a:p>
          <a:p>
            <a:endParaRPr lang="en-US" sz="1800" dirty="0"/>
          </a:p>
          <a:p>
            <a:r>
              <a:rPr lang="en-US" sz="1800" dirty="0"/>
              <a:t>Conclusions and Key Findings</a:t>
            </a:r>
          </a:p>
          <a:p>
            <a:endParaRPr lang="en-US" sz="1800" dirty="0"/>
          </a:p>
          <a:p>
            <a:r>
              <a:rPr lang="en-US" sz="1800" dirty="0"/>
              <a:t>Backup</a:t>
            </a:r>
          </a:p>
          <a:p>
            <a:pPr lvl="1"/>
            <a:r>
              <a:rPr lang="en-US" sz="1500" dirty="0"/>
              <a:t>Methodology and Assumption Validation</a:t>
            </a:r>
          </a:p>
          <a:p>
            <a:pPr lvl="1"/>
            <a:r>
              <a:rPr lang="en-US" sz="1500" dirty="0"/>
              <a:t>References</a:t>
            </a:r>
          </a:p>
          <a:p>
            <a:pPr lvl="1"/>
            <a:endParaRPr lang="en-US" sz="1300" dirty="0"/>
          </a:p>
          <a:p>
            <a:pPr lvl="1"/>
            <a:endParaRPr lang="en-US" sz="1300" dirty="0"/>
          </a:p>
        </p:txBody>
      </p:sp>
      <p:pic>
        <p:nvPicPr>
          <p:cNvPr id="5" name="Picture 4" descr="Wooden blocks stacked to create a bar graph">
            <a:extLst>
              <a:ext uri="{FF2B5EF4-FFF2-40B4-BE49-F238E27FC236}">
                <a16:creationId xmlns:a16="http://schemas.microsoft.com/office/drawing/2014/main" id="{51A013EA-422F-3496-83D1-53B395D47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37" r="20337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5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000">
              <a:schemeClr val="accent1">
                <a:lumMod val="5000"/>
                <a:lumOff val="95000"/>
              </a:schemeClr>
            </a:gs>
            <a:gs pos="22000">
              <a:schemeClr val="tx2">
                <a:lumMod val="10000"/>
                <a:lumOff val="90000"/>
              </a:schemeClr>
            </a:gs>
            <a:gs pos="10000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D8F64-E4B2-4453-6CF0-A1FD3FE74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814"/>
            <a:ext cx="10515600" cy="904875"/>
          </a:xfrm>
        </p:spPr>
        <p:txBody>
          <a:bodyPr/>
          <a:lstStyle/>
          <a:p>
            <a:r>
              <a:rPr lang="en-US" dirty="0"/>
              <a:t>Introduction and 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9AC43-2A03-F2DF-37CE-2D06A11D7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5578"/>
            <a:ext cx="10905836" cy="2601258"/>
          </a:xfrm>
        </p:spPr>
        <p:txBody>
          <a:bodyPr>
            <a:noAutofit/>
          </a:bodyPr>
          <a:lstStyle/>
          <a:p>
            <a:r>
              <a:rPr lang="en-US" sz="1600" dirty="0"/>
              <a:t>This report provides an analysis of the Ames Housing Dataset.</a:t>
            </a:r>
          </a:p>
          <a:p>
            <a:pPr lvl="1"/>
            <a:r>
              <a:rPr lang="en-US" sz="1600" dirty="0"/>
              <a:t>The dataset was originally compiled by Dean De Cock from the Ames City Assessor’s Office and published in the Journal of Statistics Education in 2011.</a:t>
            </a:r>
          </a:p>
          <a:p>
            <a:endParaRPr lang="en-US" sz="1600" dirty="0"/>
          </a:p>
          <a:p>
            <a:r>
              <a:rPr lang="en-US" sz="1600" dirty="0"/>
              <a:t>Objective: Apply hypothesis testing and statistical analysis techniques to better understand the factors that drive home sale prices.</a:t>
            </a:r>
          </a:p>
          <a:p>
            <a:pPr lvl="1"/>
            <a:r>
              <a:rPr lang="en-US" sz="1600" dirty="0"/>
              <a:t>Framed using three research questions. </a:t>
            </a:r>
          </a:p>
          <a:p>
            <a:pPr lvl="1"/>
            <a:r>
              <a:rPr lang="en-US" sz="1600" dirty="0"/>
              <a:t>Each question was evaluated using statistical methods to test hypotheses about correlations between home features and price, neighborhood effects, and median sale price predictions.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5CC89AA-C6CA-939E-559E-2A3F618ED7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464751"/>
              </p:ext>
            </p:extLst>
          </p:nvPr>
        </p:nvGraphicFramePr>
        <p:xfrm>
          <a:off x="1882687" y="4196662"/>
          <a:ext cx="8712954" cy="18663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95248">
                  <a:extLst>
                    <a:ext uri="{9D8B030D-6E8A-4147-A177-3AD203B41FA5}">
                      <a16:colId xmlns:a16="http://schemas.microsoft.com/office/drawing/2014/main" val="3703678640"/>
                    </a:ext>
                  </a:extLst>
                </a:gridCol>
                <a:gridCol w="6117706">
                  <a:extLst>
                    <a:ext uri="{9D8B030D-6E8A-4147-A177-3AD203B41FA5}">
                      <a16:colId xmlns:a16="http://schemas.microsoft.com/office/drawing/2014/main" val="21101028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Meta-data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Description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1745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File Format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Comma-Separated Values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63770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Data Type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Tabular / Structured, 1 observation per row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87691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Observations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400 random houses selected of 2,929 total available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8340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Variables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82 columns (23 nominal, 23 ordinal, 14 discrete, 20 continuous, 2 identifiers)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3477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Granularity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Individual residential property (one row per house sale)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3977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Temporal Details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2006 – 2010 (sales dates)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8581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Geographic Details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Ames, Iowa, USA - subdivided into neighborhoods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740084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6441CA2-EAD6-8127-C312-EA125B87F90E}"/>
              </a:ext>
            </a:extLst>
          </p:cNvPr>
          <p:cNvSpPr txBox="1"/>
          <p:nvPr/>
        </p:nvSpPr>
        <p:spPr>
          <a:xfrm>
            <a:off x="143164" y="64031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u="sng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https://www.openintro.org/data/index.php?data=ames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590A1E-296F-D770-0CC1-FA9A6AA788B4}"/>
              </a:ext>
            </a:extLst>
          </p:cNvPr>
          <p:cNvSpPr txBox="1"/>
          <p:nvPr/>
        </p:nvSpPr>
        <p:spPr>
          <a:xfrm>
            <a:off x="1815291" y="3851023"/>
            <a:ext cx="6096000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8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</p:spTree>
    <p:extLst>
      <p:ext uri="{BB962C8B-B14F-4D97-AF65-F5344CB8AC3E}">
        <p14:creationId xmlns:p14="http://schemas.microsoft.com/office/powerpoint/2010/main" val="2703400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000">
              <a:schemeClr val="accent1">
                <a:lumMod val="5000"/>
                <a:lumOff val="95000"/>
              </a:schemeClr>
            </a:gs>
            <a:gs pos="22000">
              <a:schemeClr val="tx2">
                <a:lumMod val="10000"/>
                <a:lumOff val="90000"/>
              </a:schemeClr>
            </a:gs>
            <a:gs pos="10000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D41FEB-8903-285D-18D5-C00D4372A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B7DC6-E936-426A-16FB-AC66A69F1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668"/>
            <a:ext cx="10515600" cy="904875"/>
          </a:xfrm>
        </p:spPr>
        <p:txBody>
          <a:bodyPr/>
          <a:lstStyle/>
          <a:p>
            <a:r>
              <a:rPr lang="en-US" dirty="0"/>
              <a:t>Research Questions and Hypothesis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FAE13ED-1586-AF97-D12C-D9EF3CF86E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0057768"/>
              </p:ext>
            </p:extLst>
          </p:nvPr>
        </p:nvGraphicFramePr>
        <p:xfrm>
          <a:off x="300257" y="1128543"/>
          <a:ext cx="8951019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 descr="House">
            <a:extLst>
              <a:ext uri="{FF2B5EF4-FFF2-40B4-BE49-F238E27FC236}">
                <a16:creationId xmlns:a16="http://schemas.microsoft.com/office/drawing/2014/main" id="{0E3FC55C-BE5E-E1C3-4112-3312A702C869}"/>
              </a:ext>
            </a:extLst>
          </p:cNvPr>
          <p:cNvSpPr/>
          <p:nvPr/>
        </p:nvSpPr>
        <p:spPr>
          <a:xfrm>
            <a:off x="1299531" y="1616954"/>
            <a:ext cx="1288639" cy="1120985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 descr="Home">
            <a:extLst>
              <a:ext uri="{FF2B5EF4-FFF2-40B4-BE49-F238E27FC236}">
                <a16:creationId xmlns:a16="http://schemas.microsoft.com/office/drawing/2014/main" id="{7AD8D031-E73B-92F2-F226-CA0BC5F60778}"/>
              </a:ext>
            </a:extLst>
          </p:cNvPr>
          <p:cNvSpPr/>
          <p:nvPr/>
        </p:nvSpPr>
        <p:spPr>
          <a:xfrm>
            <a:off x="1299531" y="3429000"/>
            <a:ext cx="1288639" cy="1120985"/>
          </a:xfrm>
          <a:prstGeom prst="rect">
            <a:avLst/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6076075"/>
              <a:satOff val="-413"/>
              <a:lumOff val="981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 descr="Dollar">
            <a:extLst>
              <a:ext uri="{FF2B5EF4-FFF2-40B4-BE49-F238E27FC236}">
                <a16:creationId xmlns:a16="http://schemas.microsoft.com/office/drawing/2014/main" id="{0AA5540C-1895-17AD-3D34-5A046B7DF0D5}"/>
              </a:ext>
            </a:extLst>
          </p:cNvPr>
          <p:cNvSpPr/>
          <p:nvPr/>
        </p:nvSpPr>
        <p:spPr>
          <a:xfrm>
            <a:off x="1299531" y="5330747"/>
            <a:ext cx="1288639" cy="1120985"/>
          </a:xfrm>
          <a:prstGeom prst="rect">
            <a:avLst/>
          </a:prstGeom>
          <a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2152150"/>
              <a:satOff val="-826"/>
              <a:lumOff val="1961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E0F5131-BA18-1F12-7061-A7662207D555}"/>
              </a:ext>
            </a:extLst>
          </p:cNvPr>
          <p:cNvSpPr/>
          <p:nvPr/>
        </p:nvSpPr>
        <p:spPr>
          <a:xfrm>
            <a:off x="9263907" y="1317890"/>
            <a:ext cx="2627836" cy="13842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Statistical Methods/Tests: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Multiple Linear Regression</a:t>
            </a:r>
          </a:p>
          <a:p>
            <a:pPr algn="ctr"/>
            <a:r>
              <a:rPr lang="en-US" sz="1400" dirty="0"/>
              <a:t>F-test / t-tests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43BC4F0-CA8F-88CE-B9B3-377F6BE167D9}"/>
              </a:ext>
            </a:extLst>
          </p:cNvPr>
          <p:cNvSpPr/>
          <p:nvPr/>
        </p:nvSpPr>
        <p:spPr>
          <a:xfrm>
            <a:off x="9263907" y="3171237"/>
            <a:ext cx="2627836" cy="13842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Statistical Methods/Tests: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ANOVA F-test two model comparison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760FCCA-2537-6CC4-C221-B4ACA0C77B11}"/>
              </a:ext>
            </a:extLst>
          </p:cNvPr>
          <p:cNvSpPr/>
          <p:nvPr/>
        </p:nvSpPr>
        <p:spPr>
          <a:xfrm>
            <a:off x="9255819" y="4973644"/>
            <a:ext cx="2627836" cy="13842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Statistical Methods/Tests: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Logistic Regression</a:t>
            </a:r>
          </a:p>
          <a:p>
            <a:pPr algn="ctr"/>
            <a:r>
              <a:rPr lang="en-US" sz="1400" dirty="0"/>
              <a:t>Binomial Z-test</a:t>
            </a:r>
          </a:p>
          <a:p>
            <a:pPr algn="ctr"/>
            <a:r>
              <a:rPr lang="en-US" sz="1400" dirty="0"/>
              <a:t>Confidence Interval</a:t>
            </a:r>
          </a:p>
        </p:txBody>
      </p:sp>
      <p:sp>
        <p:nvSpPr>
          <p:cNvPr id="14" name="Text 26">
            <a:extLst>
              <a:ext uri="{FF2B5EF4-FFF2-40B4-BE49-F238E27FC236}">
                <a16:creationId xmlns:a16="http://schemas.microsoft.com/office/drawing/2014/main" id="{7927CCAF-4AAE-B6E4-56D7-98ABB0F2E502}"/>
              </a:ext>
            </a:extLst>
          </p:cNvPr>
          <p:cNvSpPr/>
          <p:nvPr/>
        </p:nvSpPr>
        <p:spPr>
          <a:xfrm>
            <a:off x="9783909" y="6545470"/>
            <a:ext cx="2408091" cy="312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level α = 0.05 for all tests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63280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C962A-5164-B9F4-D585-030745737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D0E79-52B4-19BD-19B7-1A8BA4722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814"/>
            <a:ext cx="10515600" cy="904875"/>
          </a:xfrm>
        </p:spPr>
        <p:txBody>
          <a:bodyPr/>
          <a:lstStyle/>
          <a:p>
            <a:r>
              <a:rPr lang="en-US" dirty="0"/>
              <a:t>Analysis – 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E69FB-E12F-FFB4-29EB-1CEBE58C4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65578"/>
            <a:ext cx="11068202" cy="2483815"/>
          </a:xfrm>
        </p:spPr>
        <p:txBody>
          <a:bodyPr>
            <a:noAutofit/>
          </a:bodyPr>
          <a:lstStyle/>
          <a:p>
            <a:r>
              <a:rPr lang="en-US" sz="1600" dirty="0"/>
              <a:t>A random sample of 400 homes was selected and explored from the original dataset of 2929 houses.</a:t>
            </a:r>
          </a:p>
          <a:p>
            <a:r>
              <a:rPr lang="en-US" sz="1600" dirty="0"/>
              <a:t>Key findings:</a:t>
            </a:r>
          </a:p>
          <a:p>
            <a:pPr lvl="1"/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price distribution is right-skewed.</a:t>
            </a:r>
            <a:endParaRPr lang="en-US" sz="1400" dirty="0"/>
          </a:p>
          <a:p>
            <a:pPr lvl="1"/>
            <a:r>
              <a:rPr lang="en-US" sz="1400" dirty="0"/>
              <a:t>Several columns had a high proportion of missing data.</a:t>
            </a:r>
          </a:p>
          <a:p>
            <a:pPr lvl="1"/>
            <a:r>
              <a:rPr lang="en-US" sz="1400" dirty="0"/>
              <a:t>Top correlated features included </a:t>
            </a:r>
            <a:r>
              <a:rPr lang="en-US" sz="1400" dirty="0" err="1"/>
              <a:t>Overall.Qual</a:t>
            </a:r>
            <a:r>
              <a:rPr lang="en-US" sz="1400" dirty="0"/>
              <a:t> and area (Living Area).</a:t>
            </a:r>
          </a:p>
          <a:p>
            <a:r>
              <a:rPr lang="en-US" sz="1600" dirty="0"/>
              <a:t>Columns with &gt; 60% data missing were removed.</a:t>
            </a:r>
          </a:p>
          <a:p>
            <a:r>
              <a:rPr lang="en-US" sz="1600" dirty="0"/>
              <a:t>Missing data in categorical columns were filled with ‘None’ and numeric columns were filled with zero.</a:t>
            </a:r>
          </a:p>
          <a:p>
            <a:r>
              <a:rPr lang="en-US" sz="1600" dirty="0"/>
              <a:t>Resulting clean dataset had 400 houses, 75 variables, and zero null values.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2C4E2D-F671-E960-3884-30D7AF8AD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075" y="3944566"/>
            <a:ext cx="8100326" cy="28155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5711F0-D397-0FA1-6065-807D9E79D541}"/>
              </a:ext>
            </a:extLst>
          </p:cNvPr>
          <p:cNvSpPr txBox="1"/>
          <p:nvPr/>
        </p:nvSpPr>
        <p:spPr>
          <a:xfrm>
            <a:off x="4259527" y="3549393"/>
            <a:ext cx="7462982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8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Distribution of Sale Prices (Left) and Log Sale Prices (Right)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141767-311B-BF3A-B232-6EA73759810B}"/>
              </a:ext>
            </a:extLst>
          </p:cNvPr>
          <p:cNvSpPr txBox="1"/>
          <p:nvPr/>
        </p:nvSpPr>
        <p:spPr>
          <a:xfrm>
            <a:off x="756464" y="4542218"/>
            <a:ext cx="28597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Median sale price = $160k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Mean sale price = $177k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Standard deviation = $75k </a:t>
            </a:r>
          </a:p>
        </p:txBody>
      </p:sp>
    </p:spTree>
    <p:extLst>
      <p:ext uri="{BB962C8B-B14F-4D97-AF65-F5344CB8AC3E}">
        <p14:creationId xmlns:p14="http://schemas.microsoft.com/office/powerpoint/2010/main" val="1104177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91F0D-A243-BE0B-943A-0813840BC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FE391-96D4-236C-8562-0ADFC7268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814"/>
            <a:ext cx="10515600" cy="1088829"/>
          </a:xfrm>
        </p:spPr>
        <p:txBody>
          <a:bodyPr>
            <a:normAutofit/>
          </a:bodyPr>
          <a:lstStyle/>
          <a:p>
            <a:r>
              <a:rPr lang="en-US" dirty="0"/>
              <a:t>Analysis – Research Question 1</a:t>
            </a:r>
            <a:br>
              <a:rPr lang="en-US" dirty="0"/>
            </a:br>
            <a:r>
              <a:rPr lang="en-US" sz="1600" dirty="0"/>
              <a:t>What physical attributes of a home most strongly predict its sale price?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CB1D0-02E8-6E67-9B72-7E60C12E8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97" y="1421371"/>
            <a:ext cx="5726068" cy="5301257"/>
          </a:xfrm>
        </p:spPr>
        <p:txBody>
          <a:bodyPr>
            <a:noAutofit/>
          </a:bodyPr>
          <a:lstStyle/>
          <a:p>
            <a:r>
              <a:rPr lang="en-US" sz="1600" dirty="0"/>
              <a:t>Correlation coefficients were calculated between all numeric variables and sale price.</a:t>
            </a:r>
          </a:p>
          <a:p>
            <a:endParaRPr lang="en-US" sz="1600" dirty="0"/>
          </a:p>
          <a:p>
            <a:r>
              <a:rPr lang="en-US" sz="1600" dirty="0"/>
              <a:t>Highest correlations:</a:t>
            </a:r>
          </a:p>
          <a:p>
            <a:pPr lvl="1"/>
            <a:r>
              <a:rPr lang="en-US" sz="1600" dirty="0" err="1"/>
              <a:t>Overall.Qual</a:t>
            </a:r>
            <a:r>
              <a:rPr lang="en-US" sz="1600" dirty="0"/>
              <a:t> (Overall Quality): 0.77.</a:t>
            </a:r>
          </a:p>
          <a:p>
            <a:pPr lvl="1"/>
            <a:r>
              <a:rPr lang="en-US" sz="1600" dirty="0"/>
              <a:t>Area (Living Area): 0.69.</a:t>
            </a:r>
          </a:p>
          <a:p>
            <a:endParaRPr lang="en-US" sz="1600" dirty="0"/>
          </a:p>
          <a:p>
            <a:r>
              <a:rPr lang="en-US" sz="1600" dirty="0"/>
              <a:t>Provided insight into inter-column patterns:</a:t>
            </a:r>
          </a:p>
          <a:p>
            <a:pPr lvl="1"/>
            <a:r>
              <a:rPr lang="en-US" sz="1600" dirty="0" err="1"/>
              <a:t>Garage.Cars</a:t>
            </a:r>
            <a:r>
              <a:rPr lang="en-US" sz="1600" dirty="0"/>
              <a:t> and </a:t>
            </a:r>
            <a:r>
              <a:rPr lang="en-US" sz="1600" dirty="0" err="1"/>
              <a:t>Garage.Area</a:t>
            </a:r>
            <a:r>
              <a:rPr lang="en-US" sz="1600" dirty="0"/>
              <a:t> correlated at 0.89.</a:t>
            </a:r>
          </a:p>
          <a:p>
            <a:pPr lvl="1"/>
            <a:r>
              <a:rPr lang="en-US" sz="1600" dirty="0"/>
              <a:t>X1st.Flr.SF and </a:t>
            </a:r>
            <a:r>
              <a:rPr lang="en-US" sz="1600" dirty="0" err="1"/>
              <a:t>Total.Bsmt.SF</a:t>
            </a:r>
            <a:r>
              <a:rPr lang="en-US" sz="1600" dirty="0"/>
              <a:t> correlated at 0.82.</a:t>
            </a:r>
          </a:p>
          <a:p>
            <a:pPr lvl="1"/>
            <a:r>
              <a:rPr lang="en-US" sz="1600" dirty="0"/>
              <a:t>Indication variables may measure similar features.</a:t>
            </a:r>
          </a:p>
          <a:p>
            <a:pPr lvl="1"/>
            <a:r>
              <a:rPr lang="en-US" sz="1600" dirty="0" err="1"/>
              <a:t>Garage.Area</a:t>
            </a:r>
            <a:r>
              <a:rPr lang="en-US" sz="1600" dirty="0"/>
              <a:t> and X1st.Flr.SF excluded from the regression models to reduce redundancy.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F61B00-902C-68F3-8E81-EA9848CF6EF0}"/>
              </a:ext>
            </a:extLst>
          </p:cNvPr>
          <p:cNvSpPr txBox="1"/>
          <p:nvPr/>
        </p:nvSpPr>
        <p:spPr>
          <a:xfrm>
            <a:off x="5849837" y="1676399"/>
            <a:ext cx="6618015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8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Correlation Heatmap of Top 10 Sale Price Predictors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2DDCDB-4589-26CA-AEE5-5597805D3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358" y="2071572"/>
            <a:ext cx="5281680" cy="461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32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D673E-0FCC-0265-6C46-0C6FF0635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6099C-E106-B033-E81F-4B072B405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814"/>
            <a:ext cx="10515600" cy="1088829"/>
          </a:xfrm>
        </p:spPr>
        <p:txBody>
          <a:bodyPr>
            <a:normAutofit/>
          </a:bodyPr>
          <a:lstStyle/>
          <a:p>
            <a:r>
              <a:rPr lang="en-US" dirty="0"/>
              <a:t>Analysis – Research Question 1</a:t>
            </a:r>
            <a:br>
              <a:rPr lang="en-US" dirty="0"/>
            </a:br>
            <a:r>
              <a:rPr lang="en-US" sz="1600" dirty="0"/>
              <a:t>What physical attributes of a home most strongly predict its sale price?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73F9B-FFD3-7D3A-8530-EB0BDA0E5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357"/>
            <a:ext cx="5669876" cy="2395652"/>
          </a:xfrm>
        </p:spPr>
        <p:txBody>
          <a:bodyPr>
            <a:noAutofit/>
          </a:bodyPr>
          <a:lstStyle/>
          <a:p>
            <a:r>
              <a:rPr lang="en-US" sz="1600" dirty="0"/>
              <a:t>Statistical Methods/Tests:</a:t>
            </a:r>
          </a:p>
          <a:p>
            <a:pPr lvl="1"/>
            <a:r>
              <a:rPr lang="en-US" sz="1400" dirty="0"/>
              <a:t>Multiple Linear Regression.</a:t>
            </a:r>
          </a:p>
          <a:p>
            <a:pPr lvl="1"/>
            <a:r>
              <a:rPr lang="en-US" sz="1400" dirty="0"/>
              <a:t>F-test for model significance and t-test for each coefficient.</a:t>
            </a:r>
          </a:p>
          <a:p>
            <a:r>
              <a:rPr lang="en-US" sz="1600" dirty="0"/>
              <a:t>Results:</a:t>
            </a:r>
          </a:p>
          <a:p>
            <a:pPr lvl="1"/>
            <a:r>
              <a:rPr lang="en-US" sz="1400" dirty="0"/>
              <a:t>The top six correlated physical features explain 82% of the variance in sale prices.</a:t>
            </a:r>
          </a:p>
          <a:p>
            <a:pPr lvl="1"/>
            <a:r>
              <a:rPr lang="en-US" sz="1400" dirty="0"/>
              <a:t>Physical features are a strong predictor of sale price.</a:t>
            </a:r>
          </a:p>
          <a:p>
            <a:pPr lvl="1"/>
            <a:r>
              <a:rPr lang="en-US" sz="1400" b="1" dirty="0"/>
              <a:t>Reject H</a:t>
            </a:r>
            <a:r>
              <a:rPr lang="en-US" sz="1400" b="1" baseline="-25000" dirty="0"/>
              <a:t>0</a:t>
            </a:r>
            <a:r>
              <a:rPr lang="en-US" sz="1200" b="1" dirty="0"/>
              <a:t> </a:t>
            </a:r>
            <a:r>
              <a:rPr lang="en-US" sz="1200" dirty="0"/>
              <a:t>- </a:t>
            </a:r>
            <a:r>
              <a:rPr lang="en-US" sz="1400" dirty="0"/>
              <a:t>At least one physical feature predicts sale price.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FB9919-5215-B070-7411-DDAC8BB2E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871423"/>
              </p:ext>
            </p:extLst>
          </p:nvPr>
        </p:nvGraphicFramePr>
        <p:xfrm>
          <a:off x="7310091" y="2257322"/>
          <a:ext cx="4299129" cy="9331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17963">
                  <a:extLst>
                    <a:ext uri="{9D8B030D-6E8A-4147-A177-3AD203B41FA5}">
                      <a16:colId xmlns:a16="http://schemas.microsoft.com/office/drawing/2014/main" val="1266401196"/>
                    </a:ext>
                  </a:extLst>
                </a:gridCol>
                <a:gridCol w="2981166">
                  <a:extLst>
                    <a:ext uri="{9D8B030D-6E8A-4147-A177-3AD203B41FA5}">
                      <a16:colId xmlns:a16="http://schemas.microsoft.com/office/drawing/2014/main" val="20812146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Statistic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Value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555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R²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0.82 (82% of variance explained)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6470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F-statistic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290 (significant)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559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p-value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&lt; 0.0001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4622957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490EE241-42B0-9FEC-A06D-E20AEFAF2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575" y="4062656"/>
            <a:ext cx="8284850" cy="268992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20404F7-A7A1-CEEA-3EF3-44815F66C9E8}"/>
              </a:ext>
            </a:extLst>
          </p:cNvPr>
          <p:cNvSpPr txBox="1"/>
          <p:nvPr/>
        </p:nvSpPr>
        <p:spPr>
          <a:xfrm>
            <a:off x="2113202" y="3667483"/>
            <a:ext cx="7965593" cy="361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6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Q-Q Plot of Residuals (Left) and Residuals Distribution (Right)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7587CE-CC9C-E228-4B5E-ACC1D6878A9B}"/>
              </a:ext>
            </a:extLst>
          </p:cNvPr>
          <p:cNvSpPr txBox="1"/>
          <p:nvPr/>
        </p:nvSpPr>
        <p:spPr>
          <a:xfrm>
            <a:off x="6878104" y="1895748"/>
            <a:ext cx="5163102" cy="361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6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Multiple Linear Regression Model Summary</a:t>
            </a:r>
          </a:p>
        </p:txBody>
      </p:sp>
    </p:spTree>
    <p:extLst>
      <p:ext uri="{BB962C8B-B14F-4D97-AF65-F5344CB8AC3E}">
        <p14:creationId xmlns:p14="http://schemas.microsoft.com/office/powerpoint/2010/main" val="221670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3C916-706F-03C0-C1DC-DC4704138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1DEA7-8511-3661-8060-0E7CDAF8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814"/>
            <a:ext cx="10515600" cy="1088829"/>
          </a:xfrm>
        </p:spPr>
        <p:txBody>
          <a:bodyPr>
            <a:normAutofit/>
          </a:bodyPr>
          <a:lstStyle/>
          <a:p>
            <a:r>
              <a:rPr lang="en-US" dirty="0"/>
              <a:t>Analysis – Research Question 2</a:t>
            </a:r>
            <a:br>
              <a:rPr lang="en-US" dirty="0"/>
            </a:br>
            <a:r>
              <a:rPr lang="en-US" sz="1600" dirty="0"/>
              <a:t>Does neighborhood significantly affect home sale prices with house size, quality, and other impactful variables controlled?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9315E-64AD-07E8-91CC-8616111D1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357"/>
            <a:ext cx="5373590" cy="2395652"/>
          </a:xfrm>
        </p:spPr>
        <p:txBody>
          <a:bodyPr>
            <a:noAutofit/>
          </a:bodyPr>
          <a:lstStyle/>
          <a:p>
            <a:r>
              <a:rPr lang="en-US" sz="1600" dirty="0"/>
              <a:t>Statistical Methods/Tests:</a:t>
            </a:r>
          </a:p>
          <a:p>
            <a:pPr lvl="1"/>
            <a:r>
              <a:rPr lang="en-US" sz="1400" dirty="0"/>
              <a:t>ANOVA F-test two model comparison.</a:t>
            </a:r>
          </a:p>
          <a:p>
            <a:r>
              <a:rPr lang="en-US" sz="1600" dirty="0"/>
              <a:t>Results:</a:t>
            </a:r>
          </a:p>
          <a:p>
            <a:pPr lvl="1"/>
            <a:r>
              <a:rPr lang="en-US" sz="1400" dirty="0"/>
              <a:t>Neighborhood effects range from roughly -$25k to +$30k after controlling for physical features.</a:t>
            </a:r>
          </a:p>
          <a:p>
            <a:pPr lvl="1"/>
            <a:r>
              <a:rPr lang="en-US" sz="1400" dirty="0"/>
              <a:t>Physical attributes remain the primary driver of price, explaining 82% of the variance.</a:t>
            </a:r>
          </a:p>
          <a:p>
            <a:pPr lvl="1"/>
            <a:r>
              <a:rPr lang="en-US" sz="1400" b="1" dirty="0"/>
              <a:t>Reject H</a:t>
            </a:r>
            <a:r>
              <a:rPr lang="en-US" sz="1400" b="1" baseline="-25000" dirty="0"/>
              <a:t>0</a:t>
            </a:r>
            <a:r>
              <a:rPr lang="en-US" sz="1400" b="1" dirty="0"/>
              <a:t> </a:t>
            </a:r>
            <a:r>
              <a:rPr lang="en-US" sz="1400" dirty="0"/>
              <a:t>- Neighborhood significantly affects sale price beyond physical attributes.</a:t>
            </a:r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D21332-7330-BEDE-6F6D-BC947C89A838}"/>
              </a:ext>
            </a:extLst>
          </p:cNvPr>
          <p:cNvSpPr txBox="1"/>
          <p:nvPr/>
        </p:nvSpPr>
        <p:spPr>
          <a:xfrm>
            <a:off x="6678125" y="1314894"/>
            <a:ext cx="4606674" cy="361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6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ANOVA Model Comparison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D081A1A-C55E-DD19-D329-D938B021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988004"/>
              </p:ext>
            </p:extLst>
          </p:nvPr>
        </p:nvGraphicFramePr>
        <p:xfrm>
          <a:off x="6569377" y="1710067"/>
          <a:ext cx="5254820" cy="14239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25707">
                  <a:extLst>
                    <a:ext uri="{9D8B030D-6E8A-4147-A177-3AD203B41FA5}">
                      <a16:colId xmlns:a16="http://schemas.microsoft.com/office/drawing/2014/main" val="2964833493"/>
                    </a:ext>
                  </a:extLst>
                </a:gridCol>
                <a:gridCol w="745824">
                  <a:extLst>
                    <a:ext uri="{9D8B030D-6E8A-4147-A177-3AD203B41FA5}">
                      <a16:colId xmlns:a16="http://schemas.microsoft.com/office/drawing/2014/main" val="2628271511"/>
                    </a:ext>
                  </a:extLst>
                </a:gridCol>
                <a:gridCol w="980809">
                  <a:extLst>
                    <a:ext uri="{9D8B030D-6E8A-4147-A177-3AD203B41FA5}">
                      <a16:colId xmlns:a16="http://schemas.microsoft.com/office/drawing/2014/main" val="355127359"/>
                    </a:ext>
                  </a:extLst>
                </a:gridCol>
                <a:gridCol w="902480">
                  <a:extLst>
                    <a:ext uri="{9D8B030D-6E8A-4147-A177-3AD203B41FA5}">
                      <a16:colId xmlns:a16="http://schemas.microsoft.com/office/drawing/2014/main" val="40927094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Model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R</a:t>
                      </a:r>
                      <a:r>
                        <a:rPr lang="en-US" sz="1400" kern="100" baseline="30000" dirty="0">
                          <a:effectLst/>
                        </a:rPr>
                        <a:t>2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F Statistic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p-value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74045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Model 1 (Physical Features Only)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0.816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95877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Model 2 (Physical Features + Neighborhood)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0.841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55113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Delta R²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0.025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3.015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0.000029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9893874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C89A67F-F387-4D68-EBF5-3AD24EC7C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557" y="4053636"/>
            <a:ext cx="7106138" cy="27559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C50230-4D76-1B1A-8FA3-44D8E80BA6FE}"/>
              </a:ext>
            </a:extLst>
          </p:cNvPr>
          <p:cNvSpPr txBox="1"/>
          <p:nvPr/>
        </p:nvSpPr>
        <p:spPr>
          <a:xfrm>
            <a:off x="2037605" y="3641470"/>
            <a:ext cx="8623583" cy="361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6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Neighborhood Prices Before (Left) / After (Right) Controlling for Physical Features</a:t>
            </a:r>
            <a:endParaRPr lang="en-US" b="1" kern="100" dirty="0">
              <a:solidFill>
                <a:srgbClr val="0F476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902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D76A3-5BBD-4F28-E771-E52156798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0C585-46D0-0846-B8BF-27D029762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814"/>
            <a:ext cx="10515600" cy="1088829"/>
          </a:xfrm>
        </p:spPr>
        <p:txBody>
          <a:bodyPr>
            <a:normAutofit/>
          </a:bodyPr>
          <a:lstStyle/>
          <a:p>
            <a:r>
              <a:rPr lang="en-US" dirty="0"/>
              <a:t>Analysis – Research Question 3</a:t>
            </a:r>
            <a:br>
              <a:rPr lang="en-US" dirty="0"/>
            </a:br>
            <a:r>
              <a:rPr lang="en-US" sz="1600" dirty="0"/>
              <a:t>Can it be predicted whether a house will sell above the median price based on its features?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34E34-BF77-D93F-CE62-73BB2CA7D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357"/>
            <a:ext cx="6364616" cy="2395652"/>
          </a:xfrm>
        </p:spPr>
        <p:txBody>
          <a:bodyPr>
            <a:noAutofit/>
          </a:bodyPr>
          <a:lstStyle/>
          <a:p>
            <a:r>
              <a:rPr lang="en-US" sz="1600" dirty="0"/>
              <a:t>Statistical Methods/Test:</a:t>
            </a:r>
          </a:p>
          <a:p>
            <a:pPr lvl="1"/>
            <a:r>
              <a:rPr lang="en-US" sz="1400" dirty="0"/>
              <a:t>Logistic Regression.</a:t>
            </a:r>
          </a:p>
          <a:p>
            <a:pPr lvl="1"/>
            <a:r>
              <a:rPr lang="en-US" sz="1400" dirty="0"/>
              <a:t>Binomial Z-Test + 95% Confidence Interval.</a:t>
            </a:r>
          </a:p>
          <a:p>
            <a:r>
              <a:rPr lang="en-US" sz="1600" dirty="0"/>
              <a:t>Results:</a:t>
            </a:r>
          </a:p>
          <a:p>
            <a:pPr lvl="1"/>
            <a:r>
              <a:rPr lang="en-US" sz="1400" dirty="0"/>
              <a:t>A home’s physical features can be used to accurately predict whether a home sells above or below median price.</a:t>
            </a:r>
          </a:p>
          <a:p>
            <a:pPr lvl="1"/>
            <a:r>
              <a:rPr lang="en-US" sz="1400" dirty="0"/>
              <a:t>The model achieves a 90.25% accuracy classifying homes as above or below the median of $160k.</a:t>
            </a:r>
          </a:p>
          <a:p>
            <a:pPr lvl="1"/>
            <a:r>
              <a:rPr lang="en-US" sz="1400" b="1" dirty="0"/>
              <a:t>Reject H</a:t>
            </a:r>
            <a:r>
              <a:rPr lang="en-US" sz="1400" b="1" baseline="-25000" dirty="0"/>
              <a:t>0</a:t>
            </a:r>
            <a:r>
              <a:rPr lang="en-US" sz="1400" b="1" dirty="0"/>
              <a:t> </a:t>
            </a:r>
            <a:r>
              <a:rPr lang="en-US" sz="1400" dirty="0"/>
              <a:t>- Z-stat of 16.1 and p-value &lt; 0.0001 indicate that the model performs significantly better than random chance.</a:t>
            </a:r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73DA89-5439-8C23-1DF5-42E8EE3CA041}"/>
              </a:ext>
            </a:extLst>
          </p:cNvPr>
          <p:cNvSpPr txBox="1"/>
          <p:nvPr/>
        </p:nvSpPr>
        <p:spPr>
          <a:xfrm>
            <a:off x="2431589" y="3818233"/>
            <a:ext cx="8408393" cy="361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6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 Classification: Confusion Matrix (Left) and Feature Importance (Right)</a:t>
            </a:r>
            <a:endParaRPr lang="en-US" b="1" kern="100" dirty="0">
              <a:solidFill>
                <a:srgbClr val="0F476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D23C45-A187-C026-34EB-C7B22C47A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563" y="4219522"/>
            <a:ext cx="7160322" cy="24716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48EBF9-7157-A04C-EEE3-7E1170226430}"/>
              </a:ext>
            </a:extLst>
          </p:cNvPr>
          <p:cNvSpPr txBox="1"/>
          <p:nvPr/>
        </p:nvSpPr>
        <p:spPr>
          <a:xfrm>
            <a:off x="7701684" y="1661338"/>
            <a:ext cx="3821454" cy="361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6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Binomial Z-Test Summary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B7C8AD5-8760-461B-70D9-ABC9CAB2E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824399"/>
              </p:ext>
            </p:extLst>
          </p:nvPr>
        </p:nvGraphicFramePr>
        <p:xfrm>
          <a:off x="7612308" y="1997364"/>
          <a:ext cx="4248914" cy="11664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64206">
                  <a:extLst>
                    <a:ext uri="{9D8B030D-6E8A-4147-A177-3AD203B41FA5}">
                      <a16:colId xmlns:a16="http://schemas.microsoft.com/office/drawing/2014/main" val="1185865014"/>
                    </a:ext>
                  </a:extLst>
                </a:gridCol>
                <a:gridCol w="1884708">
                  <a:extLst>
                    <a:ext uri="{9D8B030D-6E8A-4147-A177-3AD203B41FA5}">
                      <a16:colId xmlns:a16="http://schemas.microsoft.com/office/drawing/2014/main" val="1040032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Statistic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3677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US" sz="1400" b="1" kern="100" baseline="-250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0.50 (random chance)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4470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Z-Statistic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16.1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1936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p-value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&lt; 0.0001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18620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95% Confidence Interval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87.34% - 93.16%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367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6182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000">
              <a:schemeClr val="accent1">
                <a:lumMod val="5000"/>
                <a:lumOff val="95000"/>
              </a:schemeClr>
            </a:gs>
            <a:gs pos="22000">
              <a:schemeClr val="tx2">
                <a:lumMod val="10000"/>
                <a:lumOff val="90000"/>
              </a:schemeClr>
            </a:gs>
            <a:gs pos="10000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4D07D1-7105-9B7B-F50E-36FA50FF8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20AAF-FE08-FAD6-6A73-27E37BB82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668"/>
            <a:ext cx="10515600" cy="904875"/>
          </a:xfrm>
        </p:spPr>
        <p:txBody>
          <a:bodyPr/>
          <a:lstStyle/>
          <a:p>
            <a:r>
              <a:rPr lang="en-US" dirty="0"/>
              <a:t>Conclusions and Key Findings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26F80C0-9186-D459-DD0B-51BA409CF1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8432012"/>
              </p:ext>
            </p:extLst>
          </p:nvPr>
        </p:nvGraphicFramePr>
        <p:xfrm>
          <a:off x="300258" y="1128543"/>
          <a:ext cx="11479666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 descr="House">
            <a:extLst>
              <a:ext uri="{FF2B5EF4-FFF2-40B4-BE49-F238E27FC236}">
                <a16:creationId xmlns:a16="http://schemas.microsoft.com/office/drawing/2014/main" id="{DC061B95-925C-0A7E-E725-AB8CCFA11F8C}"/>
              </a:ext>
            </a:extLst>
          </p:cNvPr>
          <p:cNvSpPr/>
          <p:nvPr/>
        </p:nvSpPr>
        <p:spPr>
          <a:xfrm>
            <a:off x="1749068" y="1622062"/>
            <a:ext cx="1288639" cy="1120985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 descr="Home">
            <a:extLst>
              <a:ext uri="{FF2B5EF4-FFF2-40B4-BE49-F238E27FC236}">
                <a16:creationId xmlns:a16="http://schemas.microsoft.com/office/drawing/2014/main" id="{D6A6536F-EFE8-0C54-6EB2-E8DC496BF108}"/>
              </a:ext>
            </a:extLst>
          </p:cNvPr>
          <p:cNvSpPr/>
          <p:nvPr/>
        </p:nvSpPr>
        <p:spPr>
          <a:xfrm>
            <a:off x="1697984" y="3476404"/>
            <a:ext cx="1288639" cy="1120985"/>
          </a:xfrm>
          <a:prstGeom prst="rect">
            <a:avLst/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6076075"/>
              <a:satOff val="-413"/>
              <a:lumOff val="981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 descr="Dollar">
            <a:extLst>
              <a:ext uri="{FF2B5EF4-FFF2-40B4-BE49-F238E27FC236}">
                <a16:creationId xmlns:a16="http://schemas.microsoft.com/office/drawing/2014/main" id="{704B42D5-EB16-4FB3-4DB5-469013BFD6DA}"/>
              </a:ext>
            </a:extLst>
          </p:cNvPr>
          <p:cNvSpPr/>
          <p:nvPr/>
        </p:nvSpPr>
        <p:spPr>
          <a:xfrm>
            <a:off x="1636683" y="5330746"/>
            <a:ext cx="1288639" cy="1120985"/>
          </a:xfrm>
          <a:prstGeom prst="rect">
            <a:avLst/>
          </a:prstGeom>
          <a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2152150"/>
              <a:satOff val="-826"/>
              <a:lumOff val="1961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564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000">
              <a:schemeClr val="accent1">
                <a:lumMod val="5000"/>
                <a:lumOff val="95000"/>
              </a:schemeClr>
            </a:gs>
            <a:gs pos="22000">
              <a:schemeClr val="tx2">
                <a:lumMod val="10000"/>
                <a:lumOff val="90000"/>
              </a:schemeClr>
            </a:gs>
            <a:gs pos="10000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29CB41-87E3-963C-429F-9EE2C4B91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122EA-5E20-2A4D-36C8-4630A2286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814"/>
            <a:ext cx="10515600" cy="1088829"/>
          </a:xfrm>
        </p:spPr>
        <p:txBody>
          <a:bodyPr>
            <a:normAutofit/>
          </a:bodyPr>
          <a:lstStyle/>
          <a:p>
            <a:r>
              <a:rPr lang="en-US" dirty="0"/>
              <a:t>Backup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75808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000">
              <a:schemeClr val="accent1">
                <a:lumMod val="5000"/>
                <a:lumOff val="95000"/>
              </a:schemeClr>
            </a:gs>
            <a:gs pos="22000">
              <a:schemeClr val="tx2">
                <a:lumMod val="10000"/>
                <a:lumOff val="90000"/>
              </a:schemeClr>
            </a:gs>
            <a:gs pos="10000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4E682A-E8A2-2A36-B34C-9E643548E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06AD5-EC6F-E8D0-C83F-DEF6EB4CF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814"/>
            <a:ext cx="10515600" cy="1088829"/>
          </a:xfrm>
        </p:spPr>
        <p:txBody>
          <a:bodyPr>
            <a:normAutofit/>
          </a:bodyPr>
          <a:lstStyle/>
          <a:p>
            <a:r>
              <a:rPr lang="en-US" dirty="0"/>
              <a:t>References</a:t>
            </a:r>
            <a:endParaRPr lang="en-US" sz="16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02FB12-4D1A-0C61-F513-14DADD4F5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9479"/>
            <a:ext cx="10515600" cy="4787484"/>
          </a:xfrm>
        </p:spPr>
        <p:txBody>
          <a:bodyPr>
            <a:normAutofit/>
          </a:bodyPr>
          <a:lstStyle/>
          <a:p>
            <a:pPr lvl="0"/>
            <a:r>
              <a:rPr lang="en-US" sz="1600" dirty="0"/>
              <a:t>De Cock, Dean. "Ames, Iowa: Alternative to the Boston housing data as an end of semester regression project." Journal of Statistics Education 19.3 (2011). </a:t>
            </a:r>
          </a:p>
          <a:p>
            <a:pPr lvl="0"/>
            <a:r>
              <a:rPr lang="en-US" sz="1600" u="sng" dirty="0">
                <a:hlinkClick r:id="rId3"/>
              </a:rPr>
              <a:t>Scikit-learn: Machine Learning in Python</a:t>
            </a:r>
            <a:r>
              <a:rPr lang="en-US" sz="1600" dirty="0"/>
              <a:t>, Pedregosa </a:t>
            </a:r>
            <a:r>
              <a:rPr lang="en-US" sz="1600" i="1" dirty="0"/>
              <a:t>et al.</a:t>
            </a:r>
            <a:r>
              <a:rPr lang="en-US" sz="1600" dirty="0"/>
              <a:t>, JMLR 12, pp. 2825-2830, 2011.</a:t>
            </a:r>
          </a:p>
          <a:p>
            <a:pPr lvl="0"/>
            <a:r>
              <a:rPr lang="en-US" sz="1600" dirty="0"/>
              <a:t>Harris, C.R., Millman, K.J., van der Walt, S.J. et al. </a:t>
            </a:r>
            <a:r>
              <a:rPr lang="en-US" sz="1600" i="1" dirty="0"/>
              <a:t>Array programming with NumPy</a:t>
            </a:r>
            <a:r>
              <a:rPr lang="en-US" sz="1600" dirty="0"/>
              <a:t>. Nature 585, 357–362 (2020). DOI: </a:t>
            </a:r>
            <a:r>
              <a:rPr lang="en-US" sz="1600" u="sng" dirty="0">
                <a:hlinkClick r:id="rId4"/>
              </a:rPr>
              <a:t>10.1038/s41586-020-2649-2</a:t>
            </a:r>
            <a:r>
              <a:rPr lang="en-US" sz="1600" dirty="0"/>
              <a:t>.</a:t>
            </a:r>
          </a:p>
          <a:p>
            <a:pPr lvl="0"/>
            <a:r>
              <a:rPr lang="en-US" sz="1600" dirty="0"/>
              <a:t> </a:t>
            </a:r>
            <a:r>
              <a:rPr lang="en-US" sz="1600" u="sng" dirty="0">
                <a:hlinkClick r:id="rId5"/>
              </a:rPr>
              <a:t>J. D. Hunter, "Matplotlib: A 2D Graphics Environment", Computing in Science &amp; Engineering, vol. 9, no. 3, pp. 90-95, 2007</a:t>
            </a:r>
            <a:r>
              <a:rPr lang="en-US" sz="1600" dirty="0"/>
              <a:t>.</a:t>
            </a:r>
          </a:p>
          <a:p>
            <a:pPr lvl="0"/>
            <a:r>
              <a:rPr lang="en-US" sz="1600" dirty="0"/>
              <a:t>Waskom, M. L., (2021). seaborn: statistical data visualization. Journal of Open Source Software, 6(60), 3021, </a:t>
            </a:r>
            <a:r>
              <a:rPr lang="en-US" sz="1600" u="sng" dirty="0">
                <a:hlinkClick r:id="rId6"/>
              </a:rPr>
              <a:t>https://doi.org/10.21105/joss.03021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7062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000">
              <a:schemeClr val="accent1">
                <a:lumMod val="5000"/>
                <a:lumOff val="95000"/>
              </a:schemeClr>
            </a:gs>
            <a:gs pos="22000">
              <a:schemeClr val="tx2">
                <a:lumMod val="10000"/>
                <a:lumOff val="90000"/>
              </a:schemeClr>
            </a:gs>
            <a:gs pos="10000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FB64B4-82ED-9D4C-01A0-33C204430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D56B0-F720-2A9F-0B57-190223870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814"/>
            <a:ext cx="10515600" cy="1088829"/>
          </a:xfrm>
        </p:spPr>
        <p:txBody>
          <a:bodyPr>
            <a:normAutofit/>
          </a:bodyPr>
          <a:lstStyle/>
          <a:p>
            <a:r>
              <a:rPr lang="en-US"/>
              <a:t>Methodology and Assumptions Validation</a:t>
            </a:r>
            <a:br>
              <a:rPr lang="en-US"/>
            </a:br>
            <a:endParaRPr lang="en-US" sz="16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3149AAC-94F9-5E69-DCD7-01EDD3C05D5C}"/>
              </a:ext>
            </a:extLst>
          </p:cNvPr>
          <p:cNvSpPr txBox="1">
            <a:spLocks/>
          </p:cNvSpPr>
          <p:nvPr/>
        </p:nvSpPr>
        <p:spPr>
          <a:xfrm>
            <a:off x="5347585" y="5300915"/>
            <a:ext cx="6626457" cy="1455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Research Question 3: Logistic Regression</a:t>
            </a:r>
          </a:p>
          <a:p>
            <a:pPr lvl="1"/>
            <a:r>
              <a:rPr lang="en-US" sz="1400" dirty="0"/>
              <a:t>Confirmed binary outcome of either below (0) or above (1) median</a:t>
            </a:r>
          </a:p>
          <a:p>
            <a:pPr lvl="1"/>
            <a:r>
              <a:rPr lang="en-US" sz="1400" dirty="0"/>
              <a:t>Independence: 400 unique observations, no duplicates</a:t>
            </a:r>
          </a:p>
          <a:p>
            <a:pPr lvl="1"/>
            <a:r>
              <a:rPr lang="en-US" sz="1400" dirty="0"/>
              <a:t>Sample Size: verified adequate sample size. </a:t>
            </a:r>
          </a:p>
          <a:p>
            <a:pPr lvl="1"/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Binomial test: n*p₀ = n*(1 - p₀) = 200 ≥ 10.</a:t>
            </a:r>
            <a:endParaRPr lang="en-US" sz="1400" dirty="0"/>
          </a:p>
          <a:p>
            <a:pPr lvl="1"/>
            <a:endParaRPr lang="en-US" sz="14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C6730B8-32C4-8191-DCE1-1D6FF9DD434E}"/>
              </a:ext>
            </a:extLst>
          </p:cNvPr>
          <p:cNvSpPr txBox="1">
            <a:spLocks/>
          </p:cNvSpPr>
          <p:nvPr/>
        </p:nvSpPr>
        <p:spPr>
          <a:xfrm>
            <a:off x="2688675" y="3171278"/>
            <a:ext cx="7599602" cy="18854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Research Question 2: ANOVA</a:t>
            </a:r>
          </a:p>
          <a:p>
            <a:pPr lvl="1"/>
            <a:r>
              <a:rPr lang="en-US" sz="1400" dirty="0"/>
              <a:t>Normality: verified using Q-Q plot residuals.</a:t>
            </a:r>
          </a:p>
          <a:p>
            <a:pPr lvl="1"/>
            <a:r>
              <a:rPr lang="en-US" sz="1400" dirty="0"/>
              <a:t>Constant Variance: residuals show minimal fanning or funneling.</a:t>
            </a:r>
          </a:p>
          <a:p>
            <a:pPr lvl="1"/>
            <a:r>
              <a:rPr lang="en-US" sz="1400" dirty="0"/>
              <a:t>Mean of 0: residuals were not uniformly above 0 or below 0 for any subsection.</a:t>
            </a:r>
          </a:p>
          <a:p>
            <a:pPr lvl="1"/>
            <a:r>
              <a:rPr lang="en-US" sz="1400" dirty="0"/>
              <a:t>19 neighborhood dummy variables mapped correctly.</a:t>
            </a:r>
          </a:p>
          <a:p>
            <a:pPr lvl="1"/>
            <a:r>
              <a:rPr lang="en-US" sz="1400" dirty="0"/>
              <a:t>Sample Size: all neighborhoods had &gt; 7 observations (min: 7, max: 69)</a:t>
            </a:r>
          </a:p>
          <a:p>
            <a:pPr lvl="1"/>
            <a:r>
              <a:rPr lang="en-US" sz="1400" dirty="0"/>
              <a:t>Independence: confirmed unique homes sales with no duplicates.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0717A07-6DF8-A023-F13B-52E24F6BE2D6}"/>
              </a:ext>
            </a:extLst>
          </p:cNvPr>
          <p:cNvSpPr txBox="1">
            <a:spLocks/>
          </p:cNvSpPr>
          <p:nvPr/>
        </p:nvSpPr>
        <p:spPr>
          <a:xfrm>
            <a:off x="703183" y="1102941"/>
            <a:ext cx="7710319" cy="18241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Research Question 1: Multiple Linear Regression </a:t>
            </a:r>
          </a:p>
          <a:p>
            <a:pPr lvl="1"/>
            <a:r>
              <a:rPr lang="en-US" sz="1400" dirty="0"/>
              <a:t>Linearity: confirmed through scatter plots.</a:t>
            </a:r>
          </a:p>
          <a:p>
            <a:pPr lvl="1"/>
            <a:r>
              <a:rPr lang="en-US" sz="1400" dirty="0"/>
              <a:t>Normality: verified using Q-Q plot residuals.</a:t>
            </a:r>
          </a:p>
          <a:p>
            <a:pPr lvl="1"/>
            <a:r>
              <a:rPr lang="en-US" sz="1400" dirty="0"/>
              <a:t>Constant Variance: residuals show minimal fanning or funneling.</a:t>
            </a:r>
          </a:p>
          <a:p>
            <a:pPr lvl="1"/>
            <a:r>
              <a:rPr lang="en-US" sz="1400" dirty="0"/>
              <a:t>Mean of 0: residuals were not uniformly above 0 or below 0 for any subsection.</a:t>
            </a:r>
          </a:p>
          <a:p>
            <a:pPr lvl="1"/>
            <a:r>
              <a:rPr lang="en-US" sz="1400" dirty="0"/>
              <a:t>Independence: confirmed unique homes sales with no duplicates.</a:t>
            </a:r>
          </a:p>
          <a:p>
            <a:pPr lvl="1"/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Outliers: &lt; 3% impact.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33876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337</TotalTime>
  <Words>1651</Words>
  <Application>Microsoft Office PowerPoint</Application>
  <PresentationFormat>Widescreen</PresentationFormat>
  <Paragraphs>215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Times New Roman</vt:lpstr>
      <vt:lpstr>Office Theme</vt:lpstr>
      <vt:lpstr>Statistical Analysis and Predictive Modeling of the Ames Housing Dataset</vt:lpstr>
      <vt:lpstr>Outline</vt:lpstr>
      <vt:lpstr>Introduction and Project Overview</vt:lpstr>
      <vt:lpstr>Research Questions and Hypothesis</vt:lpstr>
      <vt:lpstr>Analysis – Exploratory Data Analysis</vt:lpstr>
      <vt:lpstr>Analysis – Research Question 1 What physical attributes of a home most strongly predict its sale price?</vt:lpstr>
      <vt:lpstr>Analysis – Research Question 1 What physical attributes of a home most strongly predict its sale price?</vt:lpstr>
      <vt:lpstr>Analysis – Research Question 2 Does neighborhood significantly affect home sale prices with house size, quality, and other impactful variables controlled?</vt:lpstr>
      <vt:lpstr>Analysis – Research Question 3 Can it be predicted whether a house will sell above the median price based on its features?</vt:lpstr>
      <vt:lpstr>Conclusions and Key Findings</vt:lpstr>
      <vt:lpstr>Backup</vt:lpstr>
      <vt:lpstr>References</vt:lpstr>
      <vt:lpstr>Methodology and Assumptions Validation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Codoluto</dc:creator>
  <cp:lastModifiedBy>Stephen Codoluto</cp:lastModifiedBy>
  <cp:revision>71</cp:revision>
  <dcterms:created xsi:type="dcterms:W3CDTF">2026-02-23T04:28:35Z</dcterms:created>
  <dcterms:modified xsi:type="dcterms:W3CDTF">2026-02-28T20:25:44Z</dcterms:modified>
</cp:coreProperties>
</file>